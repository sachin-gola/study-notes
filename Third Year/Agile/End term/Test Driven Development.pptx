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98" r:id="rId2"/>
    <p:sldId id="313" r:id="rId3"/>
    <p:sldId id="358" r:id="rId4"/>
    <p:sldId id="369" r:id="rId5"/>
    <p:sldId id="360" r:id="rId6"/>
    <p:sldId id="365" r:id="rId7"/>
    <p:sldId id="366" r:id="rId8"/>
    <p:sldId id="367" r:id="rId9"/>
    <p:sldId id="368" r:id="rId10"/>
    <p:sldId id="370" r:id="rId11"/>
    <p:sldId id="371" r:id="rId12"/>
    <p:sldId id="266" r:id="rId13"/>
    <p:sldId id="33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 Govil" userId="a9719a31b8046b64" providerId="LiveId" clId="{60993D07-013E-439C-935D-5F8FE6E4A075}"/>
    <pc:docChg chg="custSel addSld delSld modSld">
      <pc:chgData name="Nikhil Govil" userId="a9719a31b8046b64" providerId="LiveId" clId="{60993D07-013E-439C-935D-5F8FE6E4A075}" dt="2024-11-26T05:45:56.743" v="47" actId="47"/>
      <pc:docMkLst>
        <pc:docMk/>
      </pc:docMkLst>
      <pc:sldChg chg="delSp del">
        <pc:chgData name="Nikhil Govil" userId="a9719a31b8046b64" providerId="LiveId" clId="{60993D07-013E-439C-935D-5F8FE6E4A075}" dt="2024-11-26T05:45:56.743" v="47" actId="47"/>
        <pc:sldMkLst>
          <pc:docMk/>
          <pc:sldMk cId="2864408307" sldId="256"/>
        </pc:sldMkLst>
        <pc:picChg chg="del">
          <ac:chgData name="Nikhil Govil" userId="a9719a31b8046b64" providerId="LiveId" clId="{60993D07-013E-439C-935D-5F8FE6E4A075}" dt="2024-11-26T05:45:13.361" v="1" actId="21"/>
          <ac:picMkLst>
            <pc:docMk/>
            <pc:sldMk cId="2864408307" sldId="256"/>
            <ac:picMk id="1026" creationId="{00000000-0000-0000-0000-000000000000}"/>
          </ac:picMkLst>
        </pc:picChg>
      </pc:sldChg>
      <pc:sldChg chg="addSp delSp modSp add mod">
        <pc:chgData name="Nikhil Govil" userId="a9719a31b8046b64" providerId="LiveId" clId="{60993D07-013E-439C-935D-5F8FE6E4A075}" dt="2024-11-26T05:45:53.497" v="46" actId="1076"/>
        <pc:sldMkLst>
          <pc:docMk/>
          <pc:sldMk cId="1681087341" sldId="298"/>
        </pc:sldMkLst>
        <pc:spChg chg="mod">
          <ac:chgData name="Nikhil Govil" userId="a9719a31b8046b64" providerId="LiveId" clId="{60993D07-013E-439C-935D-5F8FE6E4A075}" dt="2024-11-26T05:45:45.429" v="44" actId="1076"/>
          <ac:spMkLst>
            <pc:docMk/>
            <pc:sldMk cId="1681087341" sldId="298"/>
            <ac:spMk id="3" creationId="{00000000-0000-0000-0000-000000000000}"/>
          </ac:spMkLst>
        </pc:spChg>
        <pc:spChg chg="mod">
          <ac:chgData name="Nikhil Govil" userId="a9719a31b8046b64" providerId="LiveId" clId="{60993D07-013E-439C-935D-5F8FE6E4A075}" dt="2024-11-26T05:45:42.293" v="43" actId="1076"/>
          <ac:spMkLst>
            <pc:docMk/>
            <pc:sldMk cId="1681087341" sldId="298"/>
            <ac:spMk id="8" creationId="{00000000-0000-0000-0000-000000000000}"/>
          </ac:spMkLst>
        </pc:spChg>
        <pc:picChg chg="del">
          <ac:chgData name="Nikhil Govil" userId="a9719a31b8046b64" providerId="LiveId" clId="{60993D07-013E-439C-935D-5F8FE6E4A075}" dt="2024-11-26T05:45:17.196" v="4" actId="478"/>
          <ac:picMkLst>
            <pc:docMk/>
            <pc:sldMk cId="1681087341" sldId="298"/>
            <ac:picMk id="4" creationId="{BE1CEE78-27FD-349F-E28C-49EEE69AF3F7}"/>
          </ac:picMkLst>
        </pc:picChg>
        <pc:picChg chg="mod">
          <ac:chgData name="Nikhil Govil" userId="a9719a31b8046b64" providerId="LiveId" clId="{60993D07-013E-439C-935D-5F8FE6E4A075}" dt="2024-11-26T05:45:36.780" v="41" actId="14100"/>
          <ac:picMkLst>
            <pc:docMk/>
            <pc:sldMk cId="1681087341" sldId="298"/>
            <ac:picMk id="7" creationId="{00000000-0000-0000-0000-000000000000}"/>
          </ac:picMkLst>
        </pc:picChg>
        <pc:picChg chg="add mod">
          <ac:chgData name="Nikhil Govil" userId="a9719a31b8046b64" providerId="LiveId" clId="{60993D07-013E-439C-935D-5F8FE6E4A075}" dt="2024-11-26T05:45:53.497" v="46" actId="1076"/>
          <ac:picMkLst>
            <pc:docMk/>
            <pc:sldMk cId="1681087341" sldId="298"/>
            <ac:picMk id="1026" creationId="{00000000-0000-0000-0000-000000000000}"/>
          </ac:picMkLst>
        </pc:picChg>
      </pc:sldChg>
    </pc:docChg>
  </pc:docChgLst>
  <pc:docChgLst>
    <pc:chgData name="JAGDISH BABOO" userId="41e4620e4a676cb5" providerId="LiveId" clId="{34B3E198-D8B1-4B92-A863-845F50126C03}"/>
    <pc:docChg chg="modSld">
      <pc:chgData name="JAGDISH BABOO" userId="41e4620e4a676cb5" providerId="LiveId" clId="{34B3E198-D8B1-4B92-A863-845F50126C03}" dt="2024-12-10T15:36:20.938" v="2"/>
      <pc:docMkLst>
        <pc:docMk/>
      </pc:docMkLst>
      <pc:sldChg chg="modSp mod">
        <pc:chgData name="JAGDISH BABOO" userId="41e4620e4a676cb5" providerId="LiveId" clId="{34B3E198-D8B1-4B92-A863-845F50126C03}" dt="2024-12-10T15:36:20.938" v="2"/>
        <pc:sldMkLst>
          <pc:docMk/>
          <pc:sldMk cId="183383818" sldId="371"/>
        </pc:sldMkLst>
        <pc:spChg chg="mod">
          <ac:chgData name="JAGDISH BABOO" userId="41e4620e4a676cb5" providerId="LiveId" clId="{34B3E198-D8B1-4B92-A863-845F50126C03}" dt="2024-12-10T15:36:20.938" v="2"/>
          <ac:spMkLst>
            <pc:docMk/>
            <pc:sldMk cId="183383818" sldId="371"/>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62F1D-DDF7-4D25-969F-9E189E70E25A}" type="datetimeFigureOut">
              <a:rPr lang="en-US" smtClean="0"/>
              <a:t>12/10/2024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EB1ED7-0276-4BA5-A6E3-6345F5A3A612}" type="slidenum">
              <a:rPr lang="en-US" smtClean="0"/>
              <a:t>‹#›</a:t>
            </a:fld>
            <a:endParaRPr lang="en-US"/>
          </a:p>
        </p:txBody>
      </p:sp>
    </p:spTree>
    <p:extLst>
      <p:ext uri="{BB962C8B-B14F-4D97-AF65-F5344CB8AC3E}">
        <p14:creationId xmlns:p14="http://schemas.microsoft.com/office/powerpoint/2010/main" val="1574784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48287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165342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1649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612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7193A4-5682-4857-B400-E2CC1F3E3D88}" type="datetimeFigureOut">
              <a:rPr lang="en-US" smtClean="0"/>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190999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7193A4-5682-4857-B400-E2CC1F3E3D88}" type="datetimeFigureOut">
              <a:rPr lang="en-US" smtClean="0"/>
              <a:t>12/10/2024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9365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193A4-5682-4857-B400-E2CC1F3E3D88}" type="datetimeFigureOut">
              <a:rPr lang="en-US" smtClean="0"/>
              <a:t>12/10/2024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328468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71508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4691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003905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717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7193A4-5682-4857-B400-E2CC1F3E3D88}" type="datetimeFigureOut">
              <a:rPr lang="en-US" smtClean="0"/>
              <a:t>12/10/2024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3A87CC-9811-4CA2-8053-9B67883B0DF8}" type="slidenum">
              <a:rPr lang="en-US" smtClean="0"/>
              <a:t>‹#›</a:t>
            </a:fld>
            <a:endParaRPr lang="en-US"/>
          </a:p>
        </p:txBody>
      </p:sp>
    </p:spTree>
    <p:extLst>
      <p:ext uri="{BB962C8B-B14F-4D97-AF65-F5344CB8AC3E}">
        <p14:creationId xmlns:p14="http://schemas.microsoft.com/office/powerpoint/2010/main" val="302959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43039" y="2391336"/>
            <a:ext cx="8770375" cy="681934"/>
          </a:xfrm>
        </p:spPr>
        <p:txBody>
          <a:bodyPr>
            <a:noAutofit/>
          </a:bodyPr>
          <a:lstStyle/>
          <a:p>
            <a:r>
              <a:rPr lang="en-US" sz="4000" dirty="0">
                <a:latin typeface="Times New Roman" panose="02020603050405020304" pitchFamily="18" charset="0"/>
                <a:cs typeface="Times New Roman" panose="02020603050405020304" pitchFamily="18" charset="0"/>
              </a:rPr>
              <a:t>Topic:</a:t>
            </a:r>
            <a:r>
              <a:rPr lang="en-US" sz="4000" dirty="0">
                <a:solidFill>
                  <a:srgbClr val="FF0000"/>
                </a:solidFill>
                <a:latin typeface="Times New Roman" panose="02020603050405020304" pitchFamily="18" charset="0"/>
                <a:cs typeface="Times New Roman" panose="02020603050405020304" pitchFamily="18" charset="0"/>
              </a:rPr>
              <a:t> Test Driven Development</a:t>
            </a:r>
          </a:p>
        </p:txBody>
      </p:sp>
      <p:sp>
        <p:nvSpPr>
          <p:cNvPr id="8" name="Subtitle 2"/>
          <p:cNvSpPr txBox="1">
            <a:spLocks/>
          </p:cNvSpPr>
          <p:nvPr/>
        </p:nvSpPr>
        <p:spPr>
          <a:xfrm>
            <a:off x="1524000" y="1707727"/>
            <a:ext cx="9144000" cy="50330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Times New Roman" panose="02020603050405020304" pitchFamily="18" charset="0"/>
                <a:cs typeface="Times New Roman" panose="02020603050405020304" pitchFamily="18" charset="0"/>
              </a:rPr>
              <a:t>Agile Software Development</a:t>
            </a:r>
            <a:endParaRPr lang="en-US" sz="4000" dirty="0">
              <a:solidFill>
                <a:srgbClr val="00B050"/>
              </a:solidFill>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0" y="5624053"/>
            <a:ext cx="12191999" cy="1233948"/>
          </a:xfrm>
          <a:prstGeom prst="rect">
            <a:avLst/>
          </a:prstGeom>
          <a:solidFill>
            <a:schemeClr val="accent6">
              <a:lumMod val="75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solidFill>
                  <a:srgbClr val="FFFF00"/>
                </a:solidFill>
                <a:latin typeface="Souvenir" panose="02000503000000020003" pitchFamily="2" charset="0"/>
                <a:cs typeface="Times New Roman" panose="02020603050405020304" pitchFamily="18" charset="0"/>
              </a:rPr>
              <a:t>Dr. Nikhil Govil</a:t>
            </a:r>
          </a:p>
          <a:p>
            <a:r>
              <a:rPr lang="en-US" sz="2800" dirty="0">
                <a:solidFill>
                  <a:srgbClr val="FFFF00"/>
                </a:solidFill>
                <a:latin typeface="Souvenir" panose="02000503000000020003" pitchFamily="2" charset="0"/>
                <a:cs typeface="Times New Roman" panose="02020603050405020304" pitchFamily="18" charset="0"/>
              </a:rPr>
              <a:t>Associate Professor, Program Coordinator – B.Tech. (CSE), Dept. of CEA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279" y="109031"/>
            <a:ext cx="2811574" cy="1598696"/>
          </a:xfrm>
          <a:prstGeom prst="rect">
            <a:avLst/>
          </a:prstGeom>
        </p:spPr>
      </p:pic>
      <p:pic>
        <p:nvPicPr>
          <p:cNvPr id="1026" name="Picture 2" descr="https://upload.wikimedia.org/wikipedia/commons/0/0b/TDD_Global_Lifecycl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9725" y="3073270"/>
            <a:ext cx="4872547" cy="245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08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Test Driven Development (TDD)</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fontScale="92500" lnSpcReduction="20000"/>
          </a:bodyPr>
          <a:lstStyle/>
          <a:p>
            <a:pPr algn="just"/>
            <a:r>
              <a:rPr lang="en-US" sz="3200" dirty="0">
                <a:latin typeface="Times New Roman" panose="02020603050405020304" pitchFamily="18" charset="0"/>
                <a:cs typeface="Times New Roman" panose="02020603050405020304" pitchFamily="18" charset="0"/>
              </a:rPr>
              <a:t>Test Driven Development (TDD) is software development approach in which test cases are developed to specify and validate what the code will do.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In simple terms, test cases for each functionality are created and tested first and if the test fails then the new code is written in order to pass the test and making code simple and bug-free.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Test-Driven Development starts with designing and developing tests for every small functionality of an application.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TDD instructs developers to write new code only if an automated test has failed. This avoids duplication of code. </a:t>
            </a:r>
          </a:p>
        </p:txBody>
      </p:sp>
    </p:spTree>
    <p:extLst>
      <p:ext uri="{BB962C8B-B14F-4D97-AF65-F5344CB8AC3E}">
        <p14:creationId xmlns:p14="http://schemas.microsoft.com/office/powerpoint/2010/main" val="92795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Test Driven Development Process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algn="just"/>
            <a:r>
              <a:rPr lang="en-US" sz="3200" dirty="0">
                <a:latin typeface="Times New Roman" panose="02020603050405020304" pitchFamily="18" charset="0"/>
                <a:cs typeface="Times New Roman" panose="02020603050405020304" pitchFamily="18" charset="0"/>
              </a:rPr>
              <a:t>Add a Test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Run all tests and see if the new one fails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Write the code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Run tests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Refactor code</a:t>
            </a:r>
          </a:p>
        </p:txBody>
      </p:sp>
    </p:spTree>
    <p:extLst>
      <p:ext uri="{BB962C8B-B14F-4D97-AF65-F5344CB8AC3E}">
        <p14:creationId xmlns:p14="http://schemas.microsoft.com/office/powerpoint/2010/main" val="208490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additive="base">
                                        <p:cTn id="3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Test Driven Development Process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pic>
        <p:nvPicPr>
          <p:cNvPr id="1026" name="Picture 2" descr="Code Based Test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7386" y="1209642"/>
            <a:ext cx="5109600" cy="545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57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Test Driven Development Process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marL="0" indent="0" algn="just">
              <a:buNone/>
            </a:pPr>
            <a:r>
              <a:rPr lang="en-US" sz="3200" b="1" u="sng" dirty="0">
                <a:latin typeface="Times New Roman" panose="02020603050405020304" pitchFamily="18" charset="0"/>
                <a:cs typeface="Times New Roman" panose="02020603050405020304" pitchFamily="18" charset="0"/>
              </a:rPr>
              <a:t>Phase 1 – Add a test</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In test - driven development, each new feature begins with writing a test. Write a test that defines a function or improvements of a function, which should be very brief.</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To write a test, the developer must clearly understand the feature's specification and requirements. One can make use of use cases and user stories to cover the requirements.</a:t>
            </a:r>
          </a:p>
        </p:txBody>
      </p:sp>
    </p:spTree>
    <p:extLst>
      <p:ext uri="{BB962C8B-B14F-4D97-AF65-F5344CB8AC3E}">
        <p14:creationId xmlns:p14="http://schemas.microsoft.com/office/powerpoint/2010/main" val="187892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Test Driven Development Process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marL="0" indent="0" algn="just">
              <a:buNone/>
            </a:pPr>
            <a:r>
              <a:rPr lang="en-US" sz="3200" b="1" u="sng" dirty="0">
                <a:latin typeface="Times New Roman" panose="02020603050405020304" pitchFamily="18" charset="0"/>
                <a:cs typeface="Times New Roman" panose="02020603050405020304" pitchFamily="18" charset="0"/>
              </a:rPr>
              <a:t>Phase 2 – Run all tests and see if the new one fails</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This validates that the test is working correctly, shows that the new test does not pass without requiring new code because the required behavior already exists.</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The new test should fail for the expected reason. This step increases the developer's confidence in the new test.</a:t>
            </a:r>
          </a:p>
        </p:txBody>
      </p:sp>
    </p:spTree>
    <p:extLst>
      <p:ext uri="{BB962C8B-B14F-4D97-AF65-F5344CB8AC3E}">
        <p14:creationId xmlns:p14="http://schemas.microsoft.com/office/powerpoint/2010/main" val="290325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Test Driven Development Process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marL="0" indent="0" algn="just">
              <a:buNone/>
            </a:pPr>
            <a:r>
              <a:rPr lang="en-US" sz="3200" b="1" u="sng" dirty="0">
                <a:latin typeface="Times New Roman" panose="02020603050405020304" pitchFamily="18" charset="0"/>
                <a:cs typeface="Times New Roman" panose="02020603050405020304" pitchFamily="18" charset="0"/>
              </a:rPr>
              <a:t>Phase 3 – Write the code</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The next step is to write some code that causes the test to pass. The new code written at this stage may not be perfect. That is acceptable because it will be improved in Phase 5.</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At this point, the only purpose of the written code is to pass the test. The programmer must not write code that is beyond the functionality that the test checks.</a:t>
            </a:r>
          </a:p>
        </p:txBody>
      </p:sp>
    </p:spTree>
    <p:extLst>
      <p:ext uri="{BB962C8B-B14F-4D97-AF65-F5344CB8AC3E}">
        <p14:creationId xmlns:p14="http://schemas.microsoft.com/office/powerpoint/2010/main" val="212634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Test Driven Development Process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marL="0" indent="0" algn="just">
              <a:buNone/>
            </a:pPr>
            <a:r>
              <a:rPr lang="en-US" sz="3200" b="1" u="sng" dirty="0">
                <a:latin typeface="Times New Roman" panose="02020603050405020304" pitchFamily="18" charset="0"/>
                <a:cs typeface="Times New Roman" panose="02020603050405020304" pitchFamily="18" charset="0"/>
              </a:rPr>
              <a:t>Phase 4 – Run tests</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If all test cases now pass, the programmer can be confident that the new code meets the test requirements, and does not break or degrade any existing features.</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If they do not, the new code must be adjusted until they do.</a:t>
            </a:r>
          </a:p>
        </p:txBody>
      </p:sp>
    </p:spTree>
    <p:extLst>
      <p:ext uri="{BB962C8B-B14F-4D97-AF65-F5344CB8AC3E}">
        <p14:creationId xmlns:p14="http://schemas.microsoft.com/office/powerpoint/2010/main" val="144729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Test Driven Development Process</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marL="0" indent="0" algn="just">
              <a:buNone/>
            </a:pPr>
            <a:r>
              <a:rPr lang="en-US" sz="3200" b="1" u="sng" dirty="0">
                <a:latin typeface="Times New Roman" panose="02020603050405020304" pitchFamily="18" charset="0"/>
                <a:cs typeface="Times New Roman" panose="02020603050405020304" pitchFamily="18" charset="0"/>
              </a:rPr>
              <a:t>Phase 5 – Refactor code</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Typically, refactoring applies a series of standardized basic micro-</a:t>
            </a:r>
            <a:r>
              <a:rPr lang="en-US" sz="3200" dirty="0" err="1">
                <a:latin typeface="Times New Roman" panose="02020603050405020304" pitchFamily="18" charset="0"/>
                <a:cs typeface="Times New Roman" panose="02020603050405020304" pitchFamily="18" charset="0"/>
              </a:rPr>
              <a:t>refactorings</a:t>
            </a:r>
            <a:r>
              <a:rPr lang="en-US" sz="3200" dirty="0">
                <a:latin typeface="Times New Roman" panose="02020603050405020304" pitchFamily="18" charset="0"/>
                <a:cs typeface="Times New Roman" panose="02020603050405020304" pitchFamily="18" charset="0"/>
              </a:rPr>
              <a:t>, each of which is (usually) a tiny change in a computer program's source code that either preserves the behavior of the software, or at least does not modify its conformance to functional requirements.</a:t>
            </a:r>
          </a:p>
        </p:txBody>
      </p:sp>
    </p:spTree>
    <p:extLst>
      <p:ext uri="{BB962C8B-B14F-4D97-AF65-F5344CB8AC3E}">
        <p14:creationId xmlns:p14="http://schemas.microsoft.com/office/powerpoint/2010/main" val="255267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Benefits of Test Driven Development</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algn="just"/>
            <a:r>
              <a:rPr lang="en-US" sz="3200" dirty="0">
                <a:latin typeface="Times New Roman" panose="02020603050405020304" pitchFamily="18" charset="0"/>
                <a:cs typeface="Times New Roman" panose="02020603050405020304" pitchFamily="18" charset="0"/>
              </a:rPr>
              <a:t>Code Coverage is good.</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Parallel Regression Testing is Performed.</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Simplified Debugging.</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System Documentation as Test Cases.</a:t>
            </a:r>
          </a:p>
        </p:txBody>
      </p:sp>
    </p:spTree>
    <p:extLst>
      <p:ext uri="{BB962C8B-B14F-4D97-AF65-F5344CB8AC3E}">
        <p14:creationId xmlns:p14="http://schemas.microsoft.com/office/powerpoint/2010/main" val="256221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sz="3600" b="1" u="sng" dirty="0">
                <a:latin typeface="Times New Roman" panose="02020603050405020304" pitchFamily="18" charset="0"/>
                <a:cs typeface="Times New Roman" panose="02020603050405020304" pitchFamily="18" charset="0"/>
              </a:rPr>
              <a:t>Drawbacks of Test Driven Development</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
        <p:nvSpPr>
          <p:cNvPr id="5" name="Content Placeholder 2"/>
          <p:cNvSpPr>
            <a:spLocks noGrp="1"/>
          </p:cNvSpPr>
          <p:nvPr>
            <p:ph idx="1"/>
          </p:nvPr>
        </p:nvSpPr>
        <p:spPr>
          <a:xfrm>
            <a:off x="792725" y="1457054"/>
            <a:ext cx="10991235" cy="5091230"/>
          </a:xfrm>
        </p:spPr>
        <p:txBody>
          <a:bodyPr>
            <a:normAutofit/>
          </a:bodyPr>
          <a:lstStyle/>
          <a:p>
            <a:pPr algn="just"/>
            <a:r>
              <a:rPr lang="en-US" sz="3200" dirty="0">
                <a:latin typeface="Times New Roman" panose="02020603050405020304" pitchFamily="18" charset="0"/>
                <a:cs typeface="Times New Roman" panose="02020603050405020304" pitchFamily="18" charset="0"/>
              </a:rPr>
              <a:t>Complex to convert requirements to test cases.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Lot many testing cycles are involved.</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Modification to existing code may be tough.</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Use of TDD tools is the game of experts only.</a:t>
            </a:r>
          </a:p>
        </p:txBody>
      </p:sp>
    </p:spTree>
    <p:extLst>
      <p:ext uri="{BB962C8B-B14F-4D97-AF65-F5344CB8AC3E}">
        <p14:creationId xmlns:p14="http://schemas.microsoft.com/office/powerpoint/2010/main" val="18338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33" y="227492"/>
            <a:ext cx="8173065" cy="932733"/>
          </a:xfrm>
        </p:spPr>
        <p:txBody>
          <a:bodyPr/>
          <a:lstStyle/>
          <a:p>
            <a:r>
              <a:rPr lang="en-US" b="1"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19433" y="1324178"/>
            <a:ext cx="10972799" cy="5135616"/>
          </a:xfrm>
        </p:spPr>
        <p:txBody>
          <a:bodyPr>
            <a:normAutofit/>
          </a:bodyPr>
          <a:lstStyle/>
          <a:p>
            <a:pPr algn="just"/>
            <a:r>
              <a:rPr lang="en-US" sz="3200" dirty="0">
                <a:latin typeface="Times New Roman" panose="02020603050405020304" pitchFamily="18" charset="0"/>
                <a:cs typeface="Times New Roman" panose="02020603050405020304" pitchFamily="18" charset="0"/>
              </a:rPr>
              <a:t>Ken </a:t>
            </a:r>
            <a:r>
              <a:rPr lang="en-US" sz="3200" dirty="0" err="1">
                <a:latin typeface="Times New Roman" panose="02020603050405020304" pitchFamily="18" charset="0"/>
                <a:cs typeface="Times New Roman" panose="02020603050405020304" pitchFamily="18" charset="0"/>
              </a:rPr>
              <a:t>Schawber</a:t>
            </a:r>
            <a:r>
              <a:rPr lang="en-US" sz="3200" dirty="0">
                <a:latin typeface="Times New Roman" panose="02020603050405020304" pitchFamily="18" charset="0"/>
                <a:cs typeface="Times New Roman" panose="02020603050405020304" pitchFamily="18" charset="0"/>
              </a:rPr>
              <a:t> &amp; Mike </a:t>
            </a:r>
            <a:r>
              <a:rPr lang="en-US" sz="3200" dirty="0" err="1">
                <a:latin typeface="Times New Roman" panose="02020603050405020304" pitchFamily="18" charset="0"/>
                <a:cs typeface="Times New Roman" panose="02020603050405020304" pitchFamily="18" charset="0"/>
              </a:rPr>
              <a:t>Beedle</a:t>
            </a:r>
            <a:r>
              <a:rPr lang="en-US" sz="3200" dirty="0">
                <a:latin typeface="Times New Roman" panose="02020603050405020304" pitchFamily="18" charset="0"/>
                <a:cs typeface="Times New Roman" panose="02020603050405020304" pitchFamily="18" charset="0"/>
              </a:rPr>
              <a:t>, Agile Software Development with Scrum, Pearson, 2008.</a:t>
            </a:r>
          </a:p>
          <a:p>
            <a:pPr algn="just"/>
            <a:r>
              <a:rPr lang="en-US" sz="3200" dirty="0">
                <a:latin typeface="Times New Roman" panose="02020603050405020304" pitchFamily="18" charset="0"/>
                <a:cs typeface="Times New Roman" panose="02020603050405020304" pitchFamily="18" charset="0"/>
              </a:rPr>
              <a:t>Robert C. Martin, Agile Software Development, Principles, Patterns and Practices, Prentice Hall,2002.</a:t>
            </a:r>
          </a:p>
          <a:p>
            <a:pPr algn="just"/>
            <a:r>
              <a:rPr lang="en-US" sz="3200" dirty="0">
                <a:latin typeface="Times New Roman" panose="02020603050405020304" pitchFamily="18" charset="0"/>
                <a:cs typeface="Times New Roman" panose="02020603050405020304" pitchFamily="18" charset="0"/>
              </a:rPr>
              <a:t>Lisa Crispin &amp; Janet Gregory, Agile Testing: A Practical Guide for Testers and Agile Teams, Addison Wesley, 2008.</a:t>
            </a:r>
          </a:p>
          <a:p>
            <a:pPr algn="just"/>
            <a:r>
              <a:rPr lang="en-US" sz="3200" dirty="0">
                <a:latin typeface="Times New Roman" panose="02020603050405020304" pitchFamily="18" charset="0"/>
                <a:cs typeface="Times New Roman" panose="02020603050405020304" pitchFamily="18" charset="0"/>
              </a:rPr>
              <a:t>Alistair Cockburn, Agile Software Development: The Cooperative Game, Addison Wesley, 2006.</a:t>
            </a:r>
          </a:p>
        </p:txBody>
      </p:sp>
      <p:pic>
        <p:nvPicPr>
          <p:cNvPr id="4" name="Picture 3" descr="C:\Users\User\Desktop\NAAC\gla-full.png"/>
          <p:cNvPicPr>
            <a:picLocks noChangeAspect="1" noChangeArrowheads="1"/>
          </p:cNvPicPr>
          <p:nvPr/>
        </p:nvPicPr>
        <p:blipFill>
          <a:blip r:embed="rId2" cstate="print"/>
          <a:srcRect/>
          <a:stretch>
            <a:fillRect/>
          </a:stretch>
        </p:blipFill>
        <p:spPr bwMode="auto">
          <a:xfrm>
            <a:off x="9158908" y="0"/>
            <a:ext cx="3018183" cy="1457054"/>
          </a:xfrm>
          <a:prstGeom prst="rect">
            <a:avLst/>
          </a:prstGeom>
          <a:noFill/>
          <a:ln w="9525">
            <a:noFill/>
            <a:miter lim="800000"/>
            <a:headEnd/>
            <a:tailEnd/>
          </a:ln>
        </p:spPr>
      </p:pic>
    </p:spTree>
    <p:extLst>
      <p:ext uri="{BB962C8B-B14F-4D97-AF65-F5344CB8AC3E}">
        <p14:creationId xmlns:p14="http://schemas.microsoft.com/office/powerpoint/2010/main" val="381227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42598" y="1635252"/>
            <a:ext cx="6481622" cy="3652242"/>
          </a:xfrm>
          <a:prstGeom prst="rect">
            <a:avLst/>
          </a:prstGeom>
        </p:spPr>
      </p:pic>
    </p:spTree>
    <p:extLst>
      <p:ext uri="{BB962C8B-B14F-4D97-AF65-F5344CB8AC3E}">
        <p14:creationId xmlns:p14="http://schemas.microsoft.com/office/powerpoint/2010/main" val="3262729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1869</TotalTime>
  <Words>639</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Souvenir</vt:lpstr>
      <vt:lpstr>Times New Roman</vt:lpstr>
      <vt:lpstr>Office Theme</vt:lpstr>
      <vt:lpstr>PowerPoint Presentation</vt:lpstr>
      <vt:lpstr>Test Driven Development (TDD)</vt:lpstr>
      <vt:lpstr>Test Driven Development Process</vt:lpstr>
      <vt:lpstr>Test Driven Development Process</vt:lpstr>
      <vt:lpstr>Test Driven Development Process</vt:lpstr>
      <vt:lpstr>Test Driven Development Process</vt:lpstr>
      <vt:lpstr>Test Driven Development Process</vt:lpstr>
      <vt:lpstr>Test Driven Development Process</vt:lpstr>
      <vt:lpstr>Test Driven Development Process</vt:lpstr>
      <vt:lpstr>Benefits of Test Driven Development</vt:lpstr>
      <vt:lpstr>Drawbacks of Test Driven Development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Govil</dc:creator>
  <cp:lastModifiedBy>JAGDISH BABOO</cp:lastModifiedBy>
  <cp:revision>998</cp:revision>
  <dcterms:created xsi:type="dcterms:W3CDTF">2020-08-05T08:53:59Z</dcterms:created>
  <dcterms:modified xsi:type="dcterms:W3CDTF">2024-12-10T15:37:51Z</dcterms:modified>
</cp:coreProperties>
</file>