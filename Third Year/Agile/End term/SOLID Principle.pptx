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98" r:id="rId2"/>
    <p:sldId id="313" r:id="rId3"/>
    <p:sldId id="326" r:id="rId4"/>
    <p:sldId id="328" r:id="rId5"/>
    <p:sldId id="343" r:id="rId6"/>
    <p:sldId id="345" r:id="rId7"/>
    <p:sldId id="346" r:id="rId8"/>
    <p:sldId id="347" r:id="rId9"/>
    <p:sldId id="266" r:id="rId10"/>
    <p:sldId id="27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hil Govil" userId="a9719a31b8046b64" providerId="LiveId" clId="{27F1A83B-2E82-4179-A223-61CB8AFA1110}"/>
    <pc:docChg chg="undo custSel addSld delSld modSld">
      <pc:chgData name="Nikhil Govil" userId="a9719a31b8046b64" providerId="LiveId" clId="{27F1A83B-2E82-4179-A223-61CB8AFA1110}" dt="2024-10-14T05:01:36.133" v="79" actId="20577"/>
      <pc:docMkLst>
        <pc:docMk/>
      </pc:docMkLst>
      <pc:sldChg chg="del">
        <pc:chgData name="Nikhil Govil" userId="a9719a31b8046b64" providerId="LiveId" clId="{27F1A83B-2E82-4179-A223-61CB8AFA1110}" dt="2024-10-14T04:46:41.993" v="41" actId="47"/>
        <pc:sldMkLst>
          <pc:docMk/>
          <pc:sldMk cId="2864408307" sldId="256"/>
        </pc:sldMkLst>
      </pc:sldChg>
      <pc:sldChg chg="del">
        <pc:chgData name="Nikhil Govil" userId="a9719a31b8046b64" providerId="LiveId" clId="{27F1A83B-2E82-4179-A223-61CB8AFA1110}" dt="2024-10-14T04:47:51.350" v="64" actId="47"/>
        <pc:sldMkLst>
          <pc:docMk/>
          <pc:sldMk cId="1543913536" sldId="258"/>
        </pc:sldMkLst>
      </pc:sldChg>
      <pc:sldChg chg="addSp delSp modSp mod modAnim">
        <pc:chgData name="Nikhil Govil" userId="a9719a31b8046b64" providerId="LiveId" clId="{27F1A83B-2E82-4179-A223-61CB8AFA1110}" dt="2024-10-14T04:58:43.258" v="71"/>
        <pc:sldMkLst>
          <pc:docMk/>
          <pc:sldMk cId="3812273503" sldId="266"/>
        </pc:sldMkLst>
        <pc:spChg chg="mod">
          <ac:chgData name="Nikhil Govil" userId="a9719a31b8046b64" providerId="LiveId" clId="{27F1A83B-2E82-4179-A223-61CB8AFA1110}" dt="2024-10-14T04:47:28.792" v="56" actId="1076"/>
          <ac:spMkLst>
            <pc:docMk/>
            <pc:sldMk cId="3812273503" sldId="266"/>
            <ac:spMk id="3" creationId="{00000000-0000-0000-0000-000000000000}"/>
          </ac:spMkLst>
        </pc:spChg>
        <pc:picChg chg="del">
          <ac:chgData name="Nikhil Govil" userId="a9719a31b8046b64" providerId="LiveId" clId="{27F1A83B-2E82-4179-A223-61CB8AFA1110}" dt="2024-10-14T04:47:19.413" v="53" actId="478"/>
          <ac:picMkLst>
            <pc:docMk/>
            <pc:sldMk cId="3812273503" sldId="266"/>
            <ac:picMk id="4" creationId="{00000000-0000-0000-0000-000000000000}"/>
          </ac:picMkLst>
        </pc:picChg>
        <pc:picChg chg="add mod">
          <ac:chgData name="Nikhil Govil" userId="a9719a31b8046b64" providerId="LiveId" clId="{27F1A83B-2E82-4179-A223-61CB8AFA1110}" dt="2024-10-14T04:47:48.112" v="63"/>
          <ac:picMkLst>
            <pc:docMk/>
            <pc:sldMk cId="3812273503" sldId="266"/>
            <ac:picMk id="5" creationId="{BA6CCDB5-02ED-9382-58DD-F62215DB68D8}"/>
          </ac:picMkLst>
        </pc:picChg>
      </pc:sldChg>
      <pc:sldChg chg="add">
        <pc:chgData name="Nikhil Govil" userId="a9719a31b8046b64" providerId="LiveId" clId="{27F1A83B-2E82-4179-A223-61CB8AFA1110}" dt="2024-10-14T04:46:37.053" v="40"/>
        <pc:sldMkLst>
          <pc:docMk/>
          <pc:sldMk cId="1148068223" sldId="279"/>
        </pc:sldMkLst>
      </pc:sldChg>
      <pc:sldChg chg="addSp delSp modSp add mod">
        <pc:chgData name="Nikhil Govil" userId="a9719a31b8046b64" providerId="LiveId" clId="{27F1A83B-2E82-4179-A223-61CB8AFA1110}" dt="2024-10-14T04:46:22.414" v="39" actId="14100"/>
        <pc:sldMkLst>
          <pc:docMk/>
          <pc:sldMk cId="1681087341" sldId="298"/>
        </pc:sldMkLst>
        <pc:spChg chg="mod">
          <ac:chgData name="Nikhil Govil" userId="a9719a31b8046b64" providerId="LiveId" clId="{27F1A83B-2E82-4179-A223-61CB8AFA1110}" dt="2024-10-14T04:46:04.499" v="34" actId="6549"/>
          <ac:spMkLst>
            <pc:docMk/>
            <pc:sldMk cId="1681087341" sldId="298"/>
            <ac:spMk id="3" creationId="{00000000-0000-0000-0000-000000000000}"/>
          </ac:spMkLst>
        </pc:spChg>
        <pc:picChg chg="del">
          <ac:chgData name="Nikhil Govil" userId="a9719a31b8046b64" providerId="LiveId" clId="{27F1A83B-2E82-4179-A223-61CB8AFA1110}" dt="2024-10-14T04:46:07.119" v="35" actId="478"/>
          <ac:picMkLst>
            <pc:docMk/>
            <pc:sldMk cId="1681087341" sldId="298"/>
            <ac:picMk id="2" creationId="{D31BB3BB-EF77-EF45-8A58-D07447082644}"/>
          </ac:picMkLst>
        </pc:picChg>
        <pc:picChg chg="add mod">
          <ac:chgData name="Nikhil Govil" userId="a9719a31b8046b64" providerId="LiveId" clId="{27F1A83B-2E82-4179-A223-61CB8AFA1110}" dt="2024-10-14T04:46:22.414" v="39" actId="14100"/>
          <ac:picMkLst>
            <pc:docMk/>
            <pc:sldMk cId="1681087341" sldId="298"/>
            <ac:picMk id="4" creationId="{BE1CEE78-27FD-349F-E28C-49EEE69AF3F7}"/>
          </ac:picMkLst>
        </pc:picChg>
      </pc:sldChg>
      <pc:sldChg chg="addSp delSp modSp mod modAnim">
        <pc:chgData name="Nikhil Govil" userId="a9719a31b8046b64" providerId="LiveId" clId="{27F1A83B-2E82-4179-A223-61CB8AFA1110}" dt="2024-10-14T04:59:07.544" v="75"/>
        <pc:sldMkLst>
          <pc:docMk/>
          <pc:sldMk cId="927957462" sldId="313"/>
        </pc:sldMkLst>
        <pc:spChg chg="mod">
          <ac:chgData name="Nikhil Govil" userId="a9719a31b8046b64" providerId="LiveId" clId="{27F1A83B-2E82-4179-A223-61CB8AFA1110}" dt="2024-10-14T04:57:39.657" v="69" actId="20577"/>
          <ac:spMkLst>
            <pc:docMk/>
            <pc:sldMk cId="927957462" sldId="313"/>
            <ac:spMk id="5" creationId="{00000000-0000-0000-0000-000000000000}"/>
          </ac:spMkLst>
        </pc:spChg>
        <pc:picChg chg="add mod">
          <ac:chgData name="Nikhil Govil" userId="a9719a31b8046b64" providerId="LiveId" clId="{27F1A83B-2E82-4179-A223-61CB8AFA1110}" dt="2024-10-14T04:47:00.599" v="43"/>
          <ac:picMkLst>
            <pc:docMk/>
            <pc:sldMk cId="927957462" sldId="313"/>
            <ac:picMk id="3" creationId="{A2C257FC-DA1E-D835-42E0-A897AB2FAC70}"/>
          </ac:picMkLst>
        </pc:picChg>
        <pc:picChg chg="del">
          <ac:chgData name="Nikhil Govil" userId="a9719a31b8046b64" providerId="LiveId" clId="{27F1A83B-2E82-4179-A223-61CB8AFA1110}" dt="2024-10-14T04:46:45.147" v="42" actId="478"/>
          <ac:picMkLst>
            <pc:docMk/>
            <pc:sldMk cId="927957462" sldId="313"/>
            <ac:picMk id="4" creationId="{00000000-0000-0000-0000-000000000000}"/>
          </ac:picMkLst>
        </pc:picChg>
      </pc:sldChg>
      <pc:sldChg chg="addSp delSp modSp mod modAnim">
        <pc:chgData name="Nikhil Govil" userId="a9719a31b8046b64" providerId="LiveId" clId="{27F1A83B-2E82-4179-A223-61CB8AFA1110}" dt="2024-10-14T04:58:54.104" v="73"/>
        <pc:sldMkLst>
          <pc:docMk/>
          <pc:sldMk cId="3407443707" sldId="326"/>
        </pc:sldMkLst>
        <pc:picChg chg="add mod">
          <ac:chgData name="Nikhil Govil" userId="a9719a31b8046b64" providerId="LiveId" clId="{27F1A83B-2E82-4179-A223-61CB8AFA1110}" dt="2024-10-14T04:47:38.454" v="57"/>
          <ac:picMkLst>
            <pc:docMk/>
            <pc:sldMk cId="3407443707" sldId="326"/>
            <ac:picMk id="3" creationId="{BD31B347-EE5E-8914-D1AB-0D1E31F83D67}"/>
          </ac:picMkLst>
        </pc:picChg>
        <pc:picChg chg="del mod">
          <ac:chgData name="Nikhil Govil" userId="a9719a31b8046b64" providerId="LiveId" clId="{27F1A83B-2E82-4179-A223-61CB8AFA1110}" dt="2024-10-14T04:47:04.449" v="45" actId="478"/>
          <ac:picMkLst>
            <pc:docMk/>
            <pc:sldMk cId="3407443707" sldId="326"/>
            <ac:picMk id="4" creationId="{00000000-0000-0000-0000-000000000000}"/>
          </ac:picMkLst>
        </pc:picChg>
      </pc:sldChg>
      <pc:sldChg chg="addSp delSp modSp mod">
        <pc:chgData name="Nikhil Govil" userId="a9719a31b8046b64" providerId="LiveId" clId="{27F1A83B-2E82-4179-A223-61CB8AFA1110}" dt="2024-10-14T04:47:39.882" v="58"/>
        <pc:sldMkLst>
          <pc:docMk/>
          <pc:sldMk cId="3442931411" sldId="328"/>
        </pc:sldMkLst>
        <pc:picChg chg="add mod">
          <ac:chgData name="Nikhil Govil" userId="a9719a31b8046b64" providerId="LiveId" clId="{27F1A83B-2E82-4179-A223-61CB8AFA1110}" dt="2024-10-14T04:47:39.882" v="58"/>
          <ac:picMkLst>
            <pc:docMk/>
            <pc:sldMk cId="3442931411" sldId="328"/>
            <ac:picMk id="3" creationId="{23B3B6F2-E649-24E9-0DFC-EA4E81D486C8}"/>
          </ac:picMkLst>
        </pc:picChg>
        <pc:picChg chg="del">
          <ac:chgData name="Nikhil Govil" userId="a9719a31b8046b64" providerId="LiveId" clId="{27F1A83B-2E82-4179-A223-61CB8AFA1110}" dt="2024-10-14T04:47:06.120" v="46" actId="478"/>
          <ac:picMkLst>
            <pc:docMk/>
            <pc:sldMk cId="3442931411" sldId="328"/>
            <ac:picMk id="4" creationId="{00000000-0000-0000-0000-000000000000}"/>
          </ac:picMkLst>
        </pc:picChg>
      </pc:sldChg>
      <pc:sldChg chg="addSp delSp modSp mod">
        <pc:chgData name="Nikhil Govil" userId="a9719a31b8046b64" providerId="LiveId" clId="{27F1A83B-2E82-4179-A223-61CB8AFA1110}" dt="2024-10-14T04:47:41.426" v="59"/>
        <pc:sldMkLst>
          <pc:docMk/>
          <pc:sldMk cId="1618328920" sldId="343"/>
        </pc:sldMkLst>
        <pc:picChg chg="add mod">
          <ac:chgData name="Nikhil Govil" userId="a9719a31b8046b64" providerId="LiveId" clId="{27F1A83B-2E82-4179-A223-61CB8AFA1110}" dt="2024-10-14T04:47:41.426" v="59"/>
          <ac:picMkLst>
            <pc:docMk/>
            <pc:sldMk cId="1618328920" sldId="343"/>
            <ac:picMk id="3" creationId="{208DD2E2-43A1-6446-CB63-B5CB1AAD9CF1}"/>
          </ac:picMkLst>
        </pc:picChg>
        <pc:picChg chg="del">
          <ac:chgData name="Nikhil Govil" userId="a9719a31b8046b64" providerId="LiveId" clId="{27F1A83B-2E82-4179-A223-61CB8AFA1110}" dt="2024-10-14T04:47:07.862" v="47" actId="478"/>
          <ac:picMkLst>
            <pc:docMk/>
            <pc:sldMk cId="1618328920" sldId="343"/>
            <ac:picMk id="4" creationId="{00000000-0000-0000-0000-000000000000}"/>
          </ac:picMkLst>
        </pc:picChg>
      </pc:sldChg>
      <pc:sldChg chg="addSp delSp modSp mod">
        <pc:chgData name="Nikhil Govil" userId="a9719a31b8046b64" providerId="LiveId" clId="{27F1A83B-2E82-4179-A223-61CB8AFA1110}" dt="2024-10-14T04:47:43.487" v="60"/>
        <pc:sldMkLst>
          <pc:docMk/>
          <pc:sldMk cId="1335800187" sldId="345"/>
        </pc:sldMkLst>
        <pc:picChg chg="add mod">
          <ac:chgData name="Nikhil Govil" userId="a9719a31b8046b64" providerId="LiveId" clId="{27F1A83B-2E82-4179-A223-61CB8AFA1110}" dt="2024-10-14T04:47:43.487" v="60"/>
          <ac:picMkLst>
            <pc:docMk/>
            <pc:sldMk cId="1335800187" sldId="345"/>
            <ac:picMk id="3" creationId="{567067B2-478F-9EC2-5008-759DE7E1827B}"/>
          </ac:picMkLst>
        </pc:picChg>
        <pc:picChg chg="del">
          <ac:chgData name="Nikhil Govil" userId="a9719a31b8046b64" providerId="LiveId" clId="{27F1A83B-2E82-4179-A223-61CB8AFA1110}" dt="2024-10-14T04:47:10.396" v="48" actId="478"/>
          <ac:picMkLst>
            <pc:docMk/>
            <pc:sldMk cId="1335800187" sldId="345"/>
            <ac:picMk id="4" creationId="{00000000-0000-0000-0000-000000000000}"/>
          </ac:picMkLst>
        </pc:picChg>
      </pc:sldChg>
      <pc:sldChg chg="addSp delSp modSp mod">
        <pc:chgData name="Nikhil Govil" userId="a9719a31b8046b64" providerId="LiveId" clId="{27F1A83B-2E82-4179-A223-61CB8AFA1110}" dt="2024-10-14T05:01:36.133" v="79" actId="20577"/>
        <pc:sldMkLst>
          <pc:docMk/>
          <pc:sldMk cId="834280965" sldId="346"/>
        </pc:sldMkLst>
        <pc:spChg chg="mod">
          <ac:chgData name="Nikhil Govil" userId="a9719a31b8046b64" providerId="LiveId" clId="{27F1A83B-2E82-4179-A223-61CB8AFA1110}" dt="2024-10-14T05:01:36.133" v="79" actId="20577"/>
          <ac:spMkLst>
            <pc:docMk/>
            <pc:sldMk cId="834280965" sldId="346"/>
            <ac:spMk id="5" creationId="{00000000-0000-0000-0000-000000000000}"/>
          </ac:spMkLst>
        </pc:spChg>
        <pc:picChg chg="add mod">
          <ac:chgData name="Nikhil Govil" userId="a9719a31b8046b64" providerId="LiveId" clId="{27F1A83B-2E82-4179-A223-61CB8AFA1110}" dt="2024-10-14T04:47:44.913" v="61"/>
          <ac:picMkLst>
            <pc:docMk/>
            <pc:sldMk cId="834280965" sldId="346"/>
            <ac:picMk id="3" creationId="{E609A549-DD00-AE03-63D2-C570CDAABC54}"/>
          </ac:picMkLst>
        </pc:picChg>
        <pc:picChg chg="del">
          <ac:chgData name="Nikhil Govil" userId="a9719a31b8046b64" providerId="LiveId" clId="{27F1A83B-2E82-4179-A223-61CB8AFA1110}" dt="2024-10-14T04:47:12.560" v="49" actId="478"/>
          <ac:picMkLst>
            <pc:docMk/>
            <pc:sldMk cId="834280965" sldId="346"/>
            <ac:picMk id="4" creationId="{00000000-0000-0000-0000-000000000000}"/>
          </ac:picMkLst>
        </pc:picChg>
      </pc:sldChg>
      <pc:sldChg chg="addSp delSp modSp add del mod">
        <pc:chgData name="Nikhil Govil" userId="a9719a31b8046b64" providerId="LiveId" clId="{27F1A83B-2E82-4179-A223-61CB8AFA1110}" dt="2024-10-14T04:47:46.316" v="62"/>
        <pc:sldMkLst>
          <pc:docMk/>
          <pc:sldMk cId="1943500809" sldId="347"/>
        </pc:sldMkLst>
        <pc:picChg chg="add mod">
          <ac:chgData name="Nikhil Govil" userId="a9719a31b8046b64" providerId="LiveId" clId="{27F1A83B-2E82-4179-A223-61CB8AFA1110}" dt="2024-10-14T04:47:46.316" v="62"/>
          <ac:picMkLst>
            <pc:docMk/>
            <pc:sldMk cId="1943500809" sldId="347"/>
            <ac:picMk id="3" creationId="{CEF005B9-67C6-F5C0-3622-C35F9FD0435C}"/>
          </ac:picMkLst>
        </pc:picChg>
        <pc:picChg chg="del">
          <ac:chgData name="Nikhil Govil" userId="a9719a31b8046b64" providerId="LiveId" clId="{27F1A83B-2E82-4179-A223-61CB8AFA1110}" dt="2024-10-14T04:47:17.376" v="52" actId="478"/>
          <ac:picMkLst>
            <pc:docMk/>
            <pc:sldMk cId="1943500809" sldId="347"/>
            <ac:picMk id="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62F1D-DDF7-4D25-969F-9E189E70E25A}" type="datetimeFigureOut">
              <a:rPr lang="en-US" smtClean="0"/>
              <a:t>12/10/2024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EB1ED7-0276-4BA5-A6E3-6345F5A3A612}" type="slidenum">
              <a:rPr lang="en-US" smtClean="0"/>
              <a:t>‹#›</a:t>
            </a:fld>
            <a:endParaRPr lang="en-US"/>
          </a:p>
        </p:txBody>
      </p:sp>
    </p:spTree>
    <p:extLst>
      <p:ext uri="{BB962C8B-B14F-4D97-AF65-F5344CB8AC3E}">
        <p14:creationId xmlns:p14="http://schemas.microsoft.com/office/powerpoint/2010/main" val="1574784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48287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165342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16497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7193A4-5682-4857-B400-E2CC1F3E3D88}"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6122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7193A4-5682-4857-B400-E2CC1F3E3D88}" type="datetimeFigureOut">
              <a:rPr lang="en-US" smtClean="0"/>
              <a:t>12/10/2024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190999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7193A4-5682-4857-B400-E2CC1F3E3D88}" type="datetimeFigureOut">
              <a:rPr lang="en-US" smtClean="0"/>
              <a:t>12/10/2024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9365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7193A4-5682-4857-B400-E2CC1F3E3D88}" type="datetimeFigureOut">
              <a:rPr lang="en-US" smtClean="0"/>
              <a:t>12/10/2024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328468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715084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4691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003905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7174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7193A4-5682-4857-B400-E2CC1F3E3D88}" type="datetimeFigureOut">
              <a:rPr lang="en-US" smtClean="0"/>
              <a:t>12/10/2024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3A87CC-9811-4CA2-8053-9B67883B0DF8}" type="slidenum">
              <a:rPr lang="en-US" smtClean="0"/>
              <a:t>‹#›</a:t>
            </a:fld>
            <a:endParaRPr lang="en-US"/>
          </a:p>
        </p:txBody>
      </p:sp>
    </p:spTree>
    <p:extLst>
      <p:ext uri="{BB962C8B-B14F-4D97-AF65-F5344CB8AC3E}">
        <p14:creationId xmlns:p14="http://schemas.microsoft.com/office/powerpoint/2010/main" val="3029598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41365" y="2492467"/>
            <a:ext cx="6773725" cy="681934"/>
          </a:xfrm>
        </p:spPr>
        <p:txBody>
          <a:bodyPr>
            <a:noAutofit/>
          </a:bodyPr>
          <a:lstStyle/>
          <a:p>
            <a:r>
              <a:rPr lang="en-US" sz="4000" dirty="0">
                <a:latin typeface="Times New Roman" panose="02020603050405020304" pitchFamily="18" charset="0"/>
                <a:cs typeface="Times New Roman" panose="02020603050405020304" pitchFamily="18" charset="0"/>
              </a:rPr>
              <a:t>Topic:</a:t>
            </a:r>
            <a:r>
              <a:rPr lang="en-US" sz="4000" dirty="0">
                <a:solidFill>
                  <a:srgbClr val="FF0000"/>
                </a:solidFill>
                <a:latin typeface="Times New Roman" panose="02020603050405020304" pitchFamily="18" charset="0"/>
                <a:cs typeface="Times New Roman" panose="02020603050405020304" pitchFamily="18" charset="0"/>
              </a:rPr>
              <a:t> Agile SOLID Principles</a:t>
            </a:r>
          </a:p>
        </p:txBody>
      </p:sp>
      <p:sp>
        <p:nvSpPr>
          <p:cNvPr id="8" name="Subtitle 2"/>
          <p:cNvSpPr txBox="1">
            <a:spLocks/>
          </p:cNvSpPr>
          <p:nvPr/>
        </p:nvSpPr>
        <p:spPr>
          <a:xfrm>
            <a:off x="1756228" y="1786955"/>
            <a:ext cx="9144000" cy="68193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latin typeface="Times New Roman" panose="02020603050405020304" pitchFamily="18" charset="0"/>
                <a:cs typeface="Times New Roman" panose="02020603050405020304" pitchFamily="18" charset="0"/>
              </a:rPr>
              <a:t>Agile Software Development</a:t>
            </a:r>
            <a:endParaRPr lang="en-US" sz="4000" dirty="0">
              <a:solidFill>
                <a:srgbClr val="00B050"/>
              </a:solidFill>
              <a:latin typeface="Times New Roman" panose="02020603050405020304" pitchFamily="18" charset="0"/>
              <a:cs typeface="Times New Roman" panose="02020603050405020304" pitchFamily="18" charset="0"/>
            </a:endParaRPr>
          </a:p>
        </p:txBody>
      </p:sp>
      <p:sp>
        <p:nvSpPr>
          <p:cNvPr id="6" name="Subtitle 2"/>
          <p:cNvSpPr txBox="1">
            <a:spLocks/>
          </p:cNvSpPr>
          <p:nvPr/>
        </p:nvSpPr>
        <p:spPr>
          <a:xfrm>
            <a:off x="0" y="5624053"/>
            <a:ext cx="12191999" cy="1233948"/>
          </a:xfrm>
          <a:prstGeom prst="rect">
            <a:avLst/>
          </a:prstGeom>
          <a:solidFill>
            <a:schemeClr val="accent6">
              <a:lumMod val="75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b="1" dirty="0">
                <a:solidFill>
                  <a:srgbClr val="FFFF00"/>
                </a:solidFill>
                <a:latin typeface="Souvenir" panose="02000503000000020003" pitchFamily="2" charset="0"/>
                <a:cs typeface="Times New Roman" panose="02020603050405020304" pitchFamily="18" charset="0"/>
              </a:rPr>
              <a:t>Dr. Nikhil Govil</a:t>
            </a:r>
          </a:p>
          <a:p>
            <a:r>
              <a:rPr lang="en-US" sz="2800" dirty="0">
                <a:solidFill>
                  <a:srgbClr val="FFFF00"/>
                </a:solidFill>
                <a:latin typeface="Souvenir" panose="02000503000000020003" pitchFamily="2" charset="0"/>
                <a:cs typeface="Times New Roman" panose="02020603050405020304" pitchFamily="18" charset="0"/>
              </a:rPr>
              <a:t>Associate Professor, Program Coordinator – B.Tech. (CSE), Dept. of CEA</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278" y="109031"/>
            <a:ext cx="2909443" cy="1654346"/>
          </a:xfrm>
          <a:prstGeom prst="rect">
            <a:avLst/>
          </a:prstGeom>
        </p:spPr>
      </p:pic>
      <p:pic>
        <p:nvPicPr>
          <p:cNvPr id="4" name="Picture 3">
            <a:extLst>
              <a:ext uri="{FF2B5EF4-FFF2-40B4-BE49-F238E27FC236}">
                <a16:creationId xmlns:a16="http://schemas.microsoft.com/office/drawing/2014/main" id="{BE1CEE78-27FD-349F-E28C-49EEE69AF3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2438" y="3198148"/>
            <a:ext cx="5451577" cy="2307917"/>
          </a:xfrm>
          <a:prstGeom prst="rect">
            <a:avLst/>
          </a:prstGeom>
        </p:spPr>
      </p:pic>
    </p:spTree>
    <p:extLst>
      <p:ext uri="{BB962C8B-B14F-4D97-AF65-F5344CB8AC3E}">
        <p14:creationId xmlns:p14="http://schemas.microsoft.com/office/powerpoint/2010/main" val="168108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Agile Design Principles</a:t>
            </a:r>
          </a:p>
        </p:txBody>
      </p:sp>
      <p:sp>
        <p:nvSpPr>
          <p:cNvPr id="5" name="Content Placeholder 2"/>
          <p:cNvSpPr>
            <a:spLocks noGrp="1"/>
          </p:cNvSpPr>
          <p:nvPr>
            <p:ph idx="1"/>
          </p:nvPr>
        </p:nvSpPr>
        <p:spPr>
          <a:xfrm>
            <a:off x="575187" y="1457055"/>
            <a:ext cx="11208773" cy="4796262"/>
          </a:xfrm>
        </p:spPr>
        <p:txBody>
          <a:bodyPr>
            <a:noAutofit/>
          </a:bodyPr>
          <a:lstStyle/>
          <a:p>
            <a:pPr algn="just"/>
            <a:r>
              <a:rPr lang="en-US" sz="2600" dirty="0">
                <a:latin typeface="Times New Roman" panose="02020603050405020304" pitchFamily="18" charset="0"/>
                <a:cs typeface="Times New Roman" panose="02020603050405020304" pitchFamily="18" charset="0"/>
              </a:rPr>
              <a:t>In OOP, SOLID is an acronym for five design principles intended to make software designs more understandable, flexible &amp; maintainable. </a:t>
            </a:r>
          </a:p>
          <a:p>
            <a:pPr algn="just"/>
            <a:endParaRPr lang="en-US" sz="20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The principles are a subset of many principles promoted by American software engineer and instructor Robert C. Martin. </a:t>
            </a:r>
          </a:p>
          <a:p>
            <a:pPr algn="just"/>
            <a:endParaRPr lang="en-US" sz="20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SOLID principles can also form a core philosophy for methodologies such as Agile development.</a:t>
            </a:r>
          </a:p>
          <a:p>
            <a:pPr algn="just"/>
            <a:endParaRPr lang="en-US" sz="20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The theory of SOLID principles was introduced by Martin. Although the SOLID acronym was introduced later by Michael Feathers.</a:t>
            </a:r>
          </a:p>
        </p:txBody>
      </p:sp>
      <p:pic>
        <p:nvPicPr>
          <p:cNvPr id="3" name="Picture 2" descr="C:\Users\User\Desktop\NAAC\gla-full.png">
            <a:extLst>
              <a:ext uri="{FF2B5EF4-FFF2-40B4-BE49-F238E27FC236}">
                <a16:creationId xmlns:a16="http://schemas.microsoft.com/office/drawing/2014/main" id="{A2C257FC-DA1E-D835-42E0-A897AB2FAC70}"/>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92795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1000"/>
                                        <p:tgtEl>
                                          <p:spTgt spid="5">
                                            <p:txEl>
                                              <p:pRg st="6" end="6"/>
                                            </p:txEl>
                                          </p:spTgt>
                                        </p:tgtEl>
                                      </p:cBhvr>
                                    </p:animEffect>
                                    <p:anim calcmode="lin" valueType="num">
                                      <p:cBhvr>
                                        <p:cTn id="2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S.O.L.I.D. Principles</a:t>
            </a:r>
          </a:p>
        </p:txBody>
      </p:sp>
      <p:sp>
        <p:nvSpPr>
          <p:cNvPr id="5" name="Content Placeholder 2"/>
          <p:cNvSpPr>
            <a:spLocks noGrp="1"/>
          </p:cNvSpPr>
          <p:nvPr>
            <p:ph idx="1"/>
          </p:nvPr>
        </p:nvSpPr>
        <p:spPr>
          <a:xfrm>
            <a:off x="792725" y="1457054"/>
            <a:ext cx="10991235" cy="5091230"/>
          </a:xfrm>
        </p:spPr>
        <p:txBody>
          <a:bodyPr>
            <a:normAutofit fontScale="92500" lnSpcReduction="20000"/>
          </a:bodyPr>
          <a:lstStyle/>
          <a:p>
            <a:pPr marL="0" indent="0" algn="just">
              <a:buNone/>
            </a:pPr>
            <a:r>
              <a:rPr lang="en-US" sz="3200" dirty="0">
                <a:latin typeface="Times New Roman" panose="02020603050405020304" pitchFamily="18" charset="0"/>
                <a:cs typeface="Times New Roman" panose="02020603050405020304" pitchFamily="18" charset="0"/>
              </a:rPr>
              <a:t>Acronym for S.O.L.I.D. Principles:</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S – Single-Responsibility Principle (SRP).</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O – Open-Closed Principle (OCP).</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L – Liskov Substitution Principle (LSP).</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 – Interface Segregation Principle (ISP).</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D – Dependency Inversion Principle (DIP).</a:t>
            </a:r>
          </a:p>
        </p:txBody>
      </p:sp>
      <p:pic>
        <p:nvPicPr>
          <p:cNvPr id="3" name="Picture 2" descr="C:\Users\User\Desktop\NAAC\gla-full.png">
            <a:extLst>
              <a:ext uri="{FF2B5EF4-FFF2-40B4-BE49-F238E27FC236}">
                <a16:creationId xmlns:a16="http://schemas.microsoft.com/office/drawing/2014/main" id="{BD31B347-EE5E-8914-D1AB-0D1E31F83D67}"/>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40744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anim calcmode="lin" valueType="num">
                                      <p:cBhvr additive="base">
                                        <p:cTn id="1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anim calcmode="lin" valueType="num">
                                      <p:cBhvr additive="base">
                                        <p:cTn id="1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 calcmode="lin" valueType="num">
                                      <p:cBhvr additive="base">
                                        <p:cTn id="1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10" end="10"/>
                                            </p:txEl>
                                          </p:spTgt>
                                        </p:tgtEl>
                                        <p:attrNameLst>
                                          <p:attrName>style.visibility</p:attrName>
                                        </p:attrNameLst>
                                      </p:cBhvr>
                                      <p:to>
                                        <p:strVal val="visible"/>
                                      </p:to>
                                    </p:set>
                                    <p:anim calcmode="lin" valueType="num">
                                      <p:cBhvr additive="base">
                                        <p:cTn id="2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366183"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Single Responsibility Principle (SRP) </a:t>
            </a:r>
          </a:p>
        </p:txBody>
      </p:sp>
      <p:sp>
        <p:nvSpPr>
          <p:cNvPr id="5" name="Content Placeholder 2"/>
          <p:cNvSpPr>
            <a:spLocks noGrp="1"/>
          </p:cNvSpPr>
          <p:nvPr>
            <p:ph idx="1"/>
          </p:nvPr>
        </p:nvSpPr>
        <p:spPr>
          <a:xfrm>
            <a:off x="792725" y="1457054"/>
            <a:ext cx="10991235" cy="5146914"/>
          </a:xfrm>
        </p:spPr>
        <p:txBody>
          <a:bodyPr>
            <a:noAutofit/>
          </a:bodyPr>
          <a:lstStyle/>
          <a:p>
            <a:pPr marL="0" indent="0" algn="ctr">
              <a:buNone/>
            </a:pPr>
            <a:r>
              <a:rPr lang="en-US" sz="3200" b="1" dirty="0">
                <a:solidFill>
                  <a:srgbClr val="0070C0"/>
                </a:solidFill>
                <a:latin typeface="Times New Roman" panose="02020603050405020304" pitchFamily="18" charset="0"/>
                <a:cs typeface="Times New Roman" panose="02020603050405020304" pitchFamily="18" charset="0"/>
              </a:rPr>
              <a:t>“A class should only have a single responsibility, that is, only changes to one part of the software's specification should be able to affect the specification of the class.”</a:t>
            </a:r>
          </a:p>
          <a:p>
            <a:pPr algn="just"/>
            <a:endParaRPr lang="en-US" sz="3200" dirty="0">
              <a:latin typeface="Times New Roman" panose="02020603050405020304" pitchFamily="18" charset="0"/>
              <a:cs typeface="Times New Roman" panose="02020603050405020304" pitchFamily="18" charset="0"/>
            </a:endParaRPr>
          </a:p>
          <a:p>
            <a:pPr algn="just"/>
            <a:r>
              <a:rPr lang="en-US" sz="3200">
                <a:latin typeface="Times New Roman" panose="02020603050405020304" pitchFamily="18" charset="0"/>
                <a:cs typeface="Times New Roman" panose="02020603050405020304" pitchFamily="18" charset="0"/>
              </a:rPr>
              <a:t>The SRP </a:t>
            </a:r>
            <a:r>
              <a:rPr lang="en-US" sz="3200" dirty="0">
                <a:latin typeface="Times New Roman" panose="02020603050405020304" pitchFamily="18" charset="0"/>
                <a:cs typeface="Times New Roman" panose="02020603050405020304" pitchFamily="18" charset="0"/>
              </a:rPr>
              <a:t>says that two aspects (component and format) of the problem are really two separate responsibilities, and should therefore be in separate classes or </a:t>
            </a:r>
            <a:r>
              <a:rPr lang="en-US" sz="3200">
                <a:latin typeface="Times New Roman" panose="02020603050405020304" pitchFamily="18" charset="0"/>
                <a:cs typeface="Times New Roman" panose="02020603050405020304" pitchFamily="18" charset="0"/>
              </a:rPr>
              <a:t>modules.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 It would be a bad design to couple two things that change for different reasons at different times.</a:t>
            </a:r>
          </a:p>
        </p:txBody>
      </p:sp>
      <p:pic>
        <p:nvPicPr>
          <p:cNvPr id="3" name="Picture 2" descr="C:\Users\User\Desktop\NAAC\gla-full.png">
            <a:extLst>
              <a:ext uri="{FF2B5EF4-FFF2-40B4-BE49-F238E27FC236}">
                <a16:creationId xmlns:a16="http://schemas.microsoft.com/office/drawing/2014/main" id="{23B3B6F2-E649-24E9-0DFC-EA4E81D486C8}"/>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44293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366183" cy="962230"/>
          </a:xfrm>
        </p:spPr>
        <p:txBody>
          <a:bodyPr>
            <a:normAutofit/>
          </a:bodyPr>
          <a:lstStyle/>
          <a:p>
            <a:r>
              <a:rPr lang="en-US" b="1" u="sng" dirty="0">
                <a:latin typeface="Times New Roman" panose="02020603050405020304" pitchFamily="18" charset="0"/>
                <a:cs typeface="Times New Roman" panose="02020603050405020304" pitchFamily="18" charset="0"/>
              </a:rPr>
              <a:t>Open – Closed Principle (OCP) </a:t>
            </a:r>
          </a:p>
        </p:txBody>
      </p:sp>
      <p:sp>
        <p:nvSpPr>
          <p:cNvPr id="5" name="Content Placeholder 2"/>
          <p:cNvSpPr>
            <a:spLocks noGrp="1"/>
          </p:cNvSpPr>
          <p:nvPr>
            <p:ph idx="1"/>
          </p:nvPr>
        </p:nvSpPr>
        <p:spPr>
          <a:xfrm>
            <a:off x="648929" y="1427831"/>
            <a:ext cx="11135031" cy="5117417"/>
          </a:xfrm>
        </p:spPr>
        <p:txBody>
          <a:bodyPr>
            <a:noAutofit/>
          </a:bodyPr>
          <a:lstStyle/>
          <a:p>
            <a:pPr marL="0" indent="0" algn="ctr">
              <a:buNone/>
            </a:pPr>
            <a:r>
              <a:rPr lang="en-US" sz="3200" b="1" dirty="0">
                <a:solidFill>
                  <a:srgbClr val="0070C0"/>
                </a:solidFill>
                <a:latin typeface="Times New Roman" panose="02020603050405020304" pitchFamily="18" charset="0"/>
                <a:cs typeface="Times New Roman" panose="02020603050405020304" pitchFamily="18" charset="0"/>
              </a:rPr>
              <a:t>“Software entities (classes, modules, functions, etc.) should be open for extension, but closed for modification.”</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idea is that an entity allows its behavior to be extended but never by modifying its source code.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 class should be written in such a way that it can be used as it is.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It can be extended </a:t>
            </a:r>
            <a:r>
              <a:rPr lang="en-US" sz="3200">
                <a:latin typeface="Times New Roman" panose="02020603050405020304" pitchFamily="18" charset="0"/>
                <a:cs typeface="Times New Roman" panose="02020603050405020304" pitchFamily="18" charset="0"/>
              </a:rPr>
              <a:t>if needed, </a:t>
            </a:r>
            <a:r>
              <a:rPr lang="en-US" sz="3200" dirty="0">
                <a:latin typeface="Times New Roman" panose="02020603050405020304" pitchFamily="18" charset="0"/>
                <a:cs typeface="Times New Roman" panose="02020603050405020304" pitchFamily="18" charset="0"/>
              </a:rPr>
              <a:t>but it can never be modified. </a:t>
            </a:r>
          </a:p>
        </p:txBody>
      </p:sp>
      <p:pic>
        <p:nvPicPr>
          <p:cNvPr id="3" name="Picture 2" descr="C:\Users\User\Desktop\NAAC\gla-full.png">
            <a:extLst>
              <a:ext uri="{FF2B5EF4-FFF2-40B4-BE49-F238E27FC236}">
                <a16:creationId xmlns:a16="http://schemas.microsoft.com/office/drawing/2014/main" id="{208DD2E2-43A1-6446-CB63-B5CB1AAD9CF1}"/>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618328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 calcmode="lin" valueType="num">
                                      <p:cBhvr additive="base">
                                        <p:cTn id="1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 calcmode="lin" valueType="num">
                                      <p:cBhvr additive="base">
                                        <p:cTn id="1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 calcmode="lin" valueType="num">
                                      <p:cBhvr additive="base">
                                        <p:cTn id="24"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366183"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Liskov Substitution Principle (LSP) </a:t>
            </a:r>
          </a:p>
        </p:txBody>
      </p:sp>
      <p:sp>
        <p:nvSpPr>
          <p:cNvPr id="5" name="Content Placeholder 2"/>
          <p:cNvSpPr>
            <a:spLocks noGrp="1"/>
          </p:cNvSpPr>
          <p:nvPr>
            <p:ph idx="1"/>
          </p:nvPr>
        </p:nvSpPr>
        <p:spPr>
          <a:xfrm>
            <a:off x="648929" y="1427831"/>
            <a:ext cx="11135031" cy="5238440"/>
          </a:xfrm>
        </p:spPr>
        <p:txBody>
          <a:bodyPr>
            <a:noAutofit/>
          </a:bodyPr>
          <a:lstStyle/>
          <a:p>
            <a:pPr marL="0" indent="0" algn="ctr">
              <a:buNone/>
            </a:pPr>
            <a:r>
              <a:rPr lang="en-US" sz="3200" b="1" dirty="0">
                <a:solidFill>
                  <a:srgbClr val="0070C0"/>
                </a:solidFill>
                <a:latin typeface="Times New Roman" panose="02020603050405020304" pitchFamily="18" charset="0"/>
                <a:cs typeface="Times New Roman" panose="02020603050405020304" pitchFamily="18" charset="0"/>
              </a:rPr>
              <a:t>“Objects in a program should be replaceable with instances of their subtypes without altering the correctness of that program.”</a:t>
            </a:r>
          </a:p>
          <a:p>
            <a:pPr algn="just"/>
            <a:endParaRPr lang="en-US" sz="2000" dirty="0">
              <a:latin typeface="Times New Roman" panose="02020603050405020304" pitchFamily="18" charset="0"/>
              <a:cs typeface="Times New Roman" panose="02020603050405020304" pitchFamily="18" charset="0"/>
            </a:endParaRPr>
          </a:p>
          <a:p>
            <a:pPr algn="just"/>
            <a:r>
              <a:rPr lang="en-US" sz="3200" dirty="0" err="1">
                <a:latin typeface="Times New Roman" panose="02020603050405020304" pitchFamily="18" charset="0"/>
                <a:cs typeface="Times New Roman" panose="02020603050405020304" pitchFamily="18" charset="0"/>
              </a:rPr>
              <a:t>Liskov's</a:t>
            </a:r>
            <a:r>
              <a:rPr lang="en-US" sz="3200" dirty="0">
                <a:latin typeface="Times New Roman" panose="02020603050405020304" pitchFamily="18" charset="0"/>
                <a:cs typeface="Times New Roman" panose="02020603050405020304" pitchFamily="18" charset="0"/>
              </a:rPr>
              <a:t> Substitution Principle was defined by Barbara Liskov. </a:t>
            </a:r>
          </a:p>
          <a:p>
            <a:pPr algn="just"/>
            <a:r>
              <a:rPr lang="en-US" sz="3200" dirty="0">
                <a:latin typeface="Times New Roman" panose="02020603050405020304" pitchFamily="18" charset="0"/>
                <a:cs typeface="Times New Roman" panose="02020603050405020304" pitchFamily="18" charset="0"/>
              </a:rPr>
              <a:t>The idea here is that objects should be replaceable by instances of their subtypes without affecting the functioning of your system from a client’s point of view. </a:t>
            </a:r>
          </a:p>
          <a:p>
            <a:pPr algn="just"/>
            <a:r>
              <a:rPr lang="en-US" sz="3200" dirty="0">
                <a:latin typeface="Times New Roman" panose="02020603050405020304" pitchFamily="18" charset="0"/>
                <a:cs typeface="Times New Roman" panose="02020603050405020304" pitchFamily="18" charset="0"/>
              </a:rPr>
              <a:t>Basically, instead of using the actual implementation, you should always be able to use a base class and get the result you were waiting for. </a:t>
            </a:r>
          </a:p>
        </p:txBody>
      </p:sp>
      <p:pic>
        <p:nvPicPr>
          <p:cNvPr id="3" name="Picture 2" descr="C:\Users\User\Desktop\NAAC\gla-full.png">
            <a:extLst>
              <a:ext uri="{FF2B5EF4-FFF2-40B4-BE49-F238E27FC236}">
                <a16:creationId xmlns:a16="http://schemas.microsoft.com/office/drawing/2014/main" id="{567067B2-478F-9EC2-5008-759DE7E1827B}"/>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33580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 calcmode="lin" valueType="num">
                                      <p:cBhvr additive="base">
                                        <p:cTn id="1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 calcmode="lin" valueType="num">
                                      <p:cBhvr additive="base">
                                        <p:cTn id="18"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 calcmode="lin" valueType="num">
                                      <p:cBhvr additive="base">
                                        <p:cTn id="24"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366183"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Interface Segregation Principle (ISP) </a:t>
            </a:r>
          </a:p>
        </p:txBody>
      </p:sp>
      <p:sp>
        <p:nvSpPr>
          <p:cNvPr id="5" name="Content Placeholder 2"/>
          <p:cNvSpPr>
            <a:spLocks noGrp="1"/>
          </p:cNvSpPr>
          <p:nvPr>
            <p:ph idx="1"/>
          </p:nvPr>
        </p:nvSpPr>
        <p:spPr>
          <a:xfrm>
            <a:off x="792725" y="1427831"/>
            <a:ext cx="10991235" cy="5238440"/>
          </a:xfrm>
        </p:spPr>
        <p:txBody>
          <a:bodyPr>
            <a:noAutofit/>
          </a:bodyPr>
          <a:lstStyle/>
          <a:p>
            <a:pPr marL="0" indent="0" algn="ctr">
              <a:buNone/>
            </a:pPr>
            <a:r>
              <a:rPr lang="en-US" sz="3200" b="1" dirty="0">
                <a:solidFill>
                  <a:srgbClr val="0070C0"/>
                </a:solidFill>
                <a:latin typeface="Times New Roman" panose="02020603050405020304" pitchFamily="18" charset="0"/>
                <a:cs typeface="Times New Roman" panose="02020603050405020304" pitchFamily="18" charset="0"/>
              </a:rPr>
              <a:t>“Classes that implement interfaces, should not be forced to implement methods they do not use.”</a:t>
            </a:r>
          </a:p>
          <a:p>
            <a:pPr algn="just"/>
            <a:endParaRPr lang="en-US" sz="20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Basically, once an interface is becoming </a:t>
            </a:r>
            <a:r>
              <a:rPr lang="en-US" sz="2600">
                <a:latin typeface="Times New Roman" panose="02020603050405020304" pitchFamily="18" charset="0"/>
                <a:cs typeface="Times New Roman" panose="02020603050405020304" pitchFamily="18" charset="0"/>
              </a:rPr>
              <a:t>too large, </a:t>
            </a:r>
            <a:r>
              <a:rPr lang="en-US" sz="2600" dirty="0">
                <a:latin typeface="Times New Roman" panose="02020603050405020304" pitchFamily="18" charset="0"/>
                <a:cs typeface="Times New Roman" panose="02020603050405020304" pitchFamily="18" charset="0"/>
              </a:rPr>
              <a:t>we absolutely need to split it into small interfaces that are more specific. </a:t>
            </a:r>
          </a:p>
          <a:p>
            <a:pPr algn="just"/>
            <a:r>
              <a:rPr lang="en-US" sz="2600" dirty="0">
                <a:latin typeface="Times New Roman" panose="02020603050405020304" pitchFamily="18" charset="0"/>
                <a:cs typeface="Times New Roman" panose="02020603050405020304" pitchFamily="18" charset="0"/>
              </a:rPr>
              <a:t>And the interface will be defined by the client that will use it, which means that the client of the interface will only know about the methods that are related to them.</a:t>
            </a:r>
          </a:p>
          <a:p>
            <a:pPr algn="just"/>
            <a:r>
              <a:rPr lang="en-US" sz="2600" dirty="0">
                <a:latin typeface="Times New Roman" panose="02020603050405020304" pitchFamily="18" charset="0"/>
                <a:cs typeface="Times New Roman" panose="02020603050405020304" pitchFamily="18" charset="0"/>
              </a:rPr>
              <a:t>If you add methods that shouldn’t be there, the classes implementing the interface will have to implement those methods as well. </a:t>
            </a:r>
          </a:p>
          <a:p>
            <a:pPr algn="just"/>
            <a:r>
              <a:rPr lang="en-US" sz="2600" dirty="0">
                <a:latin typeface="Times New Roman" panose="02020603050405020304" pitchFamily="18" charset="0"/>
                <a:cs typeface="Times New Roman" panose="02020603050405020304" pitchFamily="18" charset="0"/>
              </a:rPr>
              <a:t>That is why the client shouldn’t be forced to depend on interfaces that they don’t use.</a:t>
            </a:r>
          </a:p>
        </p:txBody>
      </p:sp>
      <p:pic>
        <p:nvPicPr>
          <p:cNvPr id="3" name="Picture 2" descr="C:\Users\User\Desktop\NAAC\gla-full.png">
            <a:extLst>
              <a:ext uri="{FF2B5EF4-FFF2-40B4-BE49-F238E27FC236}">
                <a16:creationId xmlns:a16="http://schemas.microsoft.com/office/drawing/2014/main" id="{E609A549-DD00-AE03-63D2-C570CDAABC54}"/>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834280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 calcmode="lin" valueType="num">
                                      <p:cBhvr additive="base">
                                        <p:cTn id="1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 calcmode="lin" valueType="num">
                                      <p:cBhvr additive="base">
                                        <p:cTn id="18"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 calcmode="lin" valueType="num">
                                      <p:cBhvr additive="base">
                                        <p:cTn id="24"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 calcmode="lin" valueType="num">
                                      <p:cBhvr additive="base">
                                        <p:cTn id="30"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513507"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Dependency Inversion Principle (DIP) </a:t>
            </a:r>
          </a:p>
        </p:txBody>
      </p:sp>
      <p:sp>
        <p:nvSpPr>
          <p:cNvPr id="5" name="Content Placeholder 2"/>
          <p:cNvSpPr>
            <a:spLocks noGrp="1"/>
          </p:cNvSpPr>
          <p:nvPr>
            <p:ph idx="1"/>
          </p:nvPr>
        </p:nvSpPr>
        <p:spPr>
          <a:xfrm>
            <a:off x="792725" y="1342103"/>
            <a:ext cx="10991235" cy="5324168"/>
          </a:xfrm>
        </p:spPr>
        <p:txBody>
          <a:bodyPr>
            <a:noAutofit/>
          </a:bodyPr>
          <a:lstStyle/>
          <a:p>
            <a:pPr marL="0" indent="0" algn="ctr">
              <a:buNone/>
            </a:pPr>
            <a:r>
              <a:rPr lang="en-US" sz="3200" b="1" dirty="0">
                <a:solidFill>
                  <a:srgbClr val="0070C0"/>
                </a:solidFill>
                <a:latin typeface="Times New Roman" panose="02020603050405020304" pitchFamily="18" charset="0"/>
                <a:cs typeface="Times New Roman" panose="02020603050405020304" pitchFamily="18" charset="0"/>
              </a:rPr>
              <a:t>“High-level modules should not depend on low level modules, rather both should depend on abstraction.</a:t>
            </a:r>
          </a:p>
          <a:p>
            <a:pPr marL="0" indent="0" algn="ctr">
              <a:buNone/>
            </a:pPr>
            <a:r>
              <a:rPr lang="en-US" sz="3200" b="1" dirty="0">
                <a:solidFill>
                  <a:srgbClr val="0070C0"/>
                </a:solidFill>
                <a:latin typeface="Times New Roman" panose="02020603050405020304" pitchFamily="18" charset="0"/>
                <a:cs typeface="Times New Roman" panose="02020603050405020304" pitchFamily="18" charset="0"/>
              </a:rPr>
              <a:t> Abstraction should not depend on details; rather detail should depend on abstraction.”</a:t>
            </a:r>
          </a:p>
          <a:p>
            <a:pPr algn="just"/>
            <a:endParaRPr lang="en-US" sz="20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This principle is primarily concerned with reducing dependencies amongst the code modules. </a:t>
            </a:r>
          </a:p>
          <a:p>
            <a:pPr algn="just"/>
            <a:r>
              <a:rPr lang="en-US" sz="2600" dirty="0">
                <a:latin typeface="Times New Roman" panose="02020603050405020304" pitchFamily="18" charset="0"/>
                <a:cs typeface="Times New Roman" panose="02020603050405020304" pitchFamily="18" charset="0"/>
              </a:rPr>
              <a:t>Basically, the DIP will be of a great help when it comes to understanding how to correctly tie your system together.</a:t>
            </a:r>
          </a:p>
          <a:p>
            <a:pPr algn="just"/>
            <a:r>
              <a:rPr lang="en-US" sz="2600" dirty="0">
                <a:latin typeface="Times New Roman" panose="02020603050405020304" pitchFamily="18" charset="0"/>
                <a:cs typeface="Times New Roman" panose="02020603050405020304" pitchFamily="18" charset="0"/>
              </a:rPr>
              <a:t>If your implementation detail will depend on the higher-level abstractions, it will help you to get a system that is coupled correctly. </a:t>
            </a:r>
          </a:p>
          <a:p>
            <a:pPr algn="just"/>
            <a:r>
              <a:rPr lang="en-US" sz="2600" dirty="0">
                <a:latin typeface="Times New Roman" panose="02020603050405020304" pitchFamily="18" charset="0"/>
                <a:cs typeface="Times New Roman" panose="02020603050405020304" pitchFamily="18" charset="0"/>
              </a:rPr>
              <a:t>Also, it will influence the encapsulation and cohesion of that system.</a:t>
            </a:r>
          </a:p>
        </p:txBody>
      </p:sp>
      <p:pic>
        <p:nvPicPr>
          <p:cNvPr id="3" name="Picture 2" descr="C:\Users\User\Desktop\NAAC\gla-full.png">
            <a:extLst>
              <a:ext uri="{FF2B5EF4-FFF2-40B4-BE49-F238E27FC236}">
                <a16:creationId xmlns:a16="http://schemas.microsoft.com/office/drawing/2014/main" id="{CEF005B9-67C6-F5C0-3622-C35F9FD0435C}"/>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943500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arn(inVertical)">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 calcmode="lin" valueType="num">
                                      <p:cBhvr additive="base">
                                        <p:cTn id="1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 calcmode="lin" valueType="num">
                                      <p:cBhvr additive="base">
                                        <p:cTn id="3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433" y="227492"/>
            <a:ext cx="8173065" cy="932733"/>
          </a:xfrm>
        </p:spPr>
        <p:txBody>
          <a:bodyPr/>
          <a:lstStyle/>
          <a:p>
            <a:r>
              <a:rPr lang="en-US" b="1" u="sng"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609600" y="1442165"/>
            <a:ext cx="10972799" cy="4349035"/>
          </a:xfrm>
        </p:spPr>
        <p:txBody>
          <a:bodyPr>
            <a:normAutofit/>
          </a:bodyPr>
          <a:lstStyle/>
          <a:p>
            <a:pPr algn="just"/>
            <a:r>
              <a:rPr lang="en-US" sz="3200" dirty="0">
                <a:latin typeface="Times New Roman" panose="02020603050405020304" pitchFamily="18" charset="0"/>
                <a:cs typeface="Times New Roman" panose="02020603050405020304" pitchFamily="18" charset="0"/>
              </a:rPr>
              <a:t>Ken </a:t>
            </a:r>
            <a:r>
              <a:rPr lang="en-US" sz="3200" dirty="0" err="1">
                <a:latin typeface="Times New Roman" panose="02020603050405020304" pitchFamily="18" charset="0"/>
                <a:cs typeface="Times New Roman" panose="02020603050405020304" pitchFamily="18" charset="0"/>
              </a:rPr>
              <a:t>Schawber</a:t>
            </a:r>
            <a:r>
              <a:rPr lang="en-US" sz="3200" dirty="0">
                <a:latin typeface="Times New Roman" panose="02020603050405020304" pitchFamily="18" charset="0"/>
                <a:cs typeface="Times New Roman" panose="02020603050405020304" pitchFamily="18" charset="0"/>
              </a:rPr>
              <a:t> &amp; Mike </a:t>
            </a:r>
            <a:r>
              <a:rPr lang="en-US" sz="3200" dirty="0" err="1">
                <a:latin typeface="Times New Roman" panose="02020603050405020304" pitchFamily="18" charset="0"/>
                <a:cs typeface="Times New Roman" panose="02020603050405020304" pitchFamily="18" charset="0"/>
              </a:rPr>
              <a:t>Beedle</a:t>
            </a:r>
            <a:r>
              <a:rPr lang="en-US" sz="3200" dirty="0">
                <a:latin typeface="Times New Roman" panose="02020603050405020304" pitchFamily="18" charset="0"/>
                <a:cs typeface="Times New Roman" panose="02020603050405020304" pitchFamily="18" charset="0"/>
              </a:rPr>
              <a:t>, Agile Software Development with Scrum, Pearson, 2008.</a:t>
            </a:r>
          </a:p>
          <a:p>
            <a:pPr algn="just"/>
            <a:r>
              <a:rPr lang="en-US" sz="3200" dirty="0">
                <a:latin typeface="Times New Roman" panose="02020603050405020304" pitchFamily="18" charset="0"/>
                <a:cs typeface="Times New Roman" panose="02020603050405020304" pitchFamily="18" charset="0"/>
              </a:rPr>
              <a:t>Robert C. Martin, Agile Software Development, Principles, Patterns and Practices, Prentice Hall,2002.</a:t>
            </a:r>
          </a:p>
          <a:p>
            <a:pPr algn="just"/>
            <a:r>
              <a:rPr lang="en-US" sz="3200" dirty="0">
                <a:latin typeface="Times New Roman" panose="02020603050405020304" pitchFamily="18" charset="0"/>
                <a:cs typeface="Times New Roman" panose="02020603050405020304" pitchFamily="18" charset="0"/>
              </a:rPr>
              <a:t>Lisa Crispin &amp; Janet Gregory, Agile Testing: A Practical Guide for Testers and Agile Teams, Addison Wesley, 2008.</a:t>
            </a:r>
          </a:p>
          <a:p>
            <a:pPr algn="just"/>
            <a:r>
              <a:rPr lang="en-US" sz="3200" dirty="0">
                <a:latin typeface="Times New Roman" panose="02020603050405020304" pitchFamily="18" charset="0"/>
                <a:cs typeface="Times New Roman" panose="02020603050405020304" pitchFamily="18" charset="0"/>
              </a:rPr>
              <a:t>Alistair Cockburn, Agile Software Development: The Cooperative Game, Addison Wesley, 2006.</a:t>
            </a:r>
          </a:p>
          <a:p>
            <a:pPr marL="0" indent="0">
              <a:buNone/>
            </a:pPr>
            <a:endParaRPr lang="en-US" sz="3200" dirty="0">
              <a:latin typeface="Times New Roman" panose="02020603050405020304" pitchFamily="18" charset="0"/>
              <a:cs typeface="Times New Roman" panose="02020603050405020304" pitchFamily="18" charset="0"/>
            </a:endParaRPr>
          </a:p>
        </p:txBody>
      </p:sp>
      <p:pic>
        <p:nvPicPr>
          <p:cNvPr id="5" name="Picture 4" descr="C:\Users\User\Desktop\NAAC\gla-full.png">
            <a:extLst>
              <a:ext uri="{FF2B5EF4-FFF2-40B4-BE49-F238E27FC236}">
                <a16:creationId xmlns:a16="http://schemas.microsoft.com/office/drawing/2014/main" id="{BA6CCDB5-02ED-9382-58DD-F62215DB68D8}"/>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81227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ow To Write A Thank You Note In Five Easy Steps">
            <a:extLst>
              <a:ext uri="{FF2B5EF4-FFF2-40B4-BE49-F238E27FC236}">
                <a16:creationId xmlns:a16="http://schemas.microsoft.com/office/drawing/2014/main" id="{CAF25437-4356-1F3A-5238-4EFD81C62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202" y="1758103"/>
            <a:ext cx="5947595" cy="3341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068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1423</TotalTime>
  <Words>747</Words>
  <Application>Microsoft Office PowerPoint</Application>
  <PresentationFormat>Widescreen</PresentationFormat>
  <Paragraphs>64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Souvenir</vt:lpstr>
      <vt:lpstr>Times New Roman</vt:lpstr>
      <vt:lpstr>Office Theme</vt:lpstr>
      <vt:lpstr>PowerPoint Presentation</vt:lpstr>
      <vt:lpstr>Agile Design Principles</vt:lpstr>
      <vt:lpstr>S.O.L.I.D. Principles</vt:lpstr>
      <vt:lpstr>Single Responsibility Principle (SRP) </vt:lpstr>
      <vt:lpstr>Open – Closed Principle (OCP) </vt:lpstr>
      <vt:lpstr>Liskov Substitution Principle (LSP) </vt:lpstr>
      <vt:lpstr>Interface Segregation Principle (ISP) </vt:lpstr>
      <vt:lpstr>Dependency Inversion Principle (DIP)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Nikhil Govil</dc:creator>
  <cp:lastModifiedBy>JAGDISH BABOO</cp:lastModifiedBy>
  <cp:revision>826</cp:revision>
  <dcterms:created xsi:type="dcterms:W3CDTF">2020-08-05T08:53:59Z</dcterms:created>
  <dcterms:modified xsi:type="dcterms:W3CDTF">2024-12-10T09:57:12Z</dcterms:modified>
</cp:coreProperties>
</file>