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4" r:id="rId1"/>
  </p:sldMasterIdLst>
  <p:sldIdLst>
    <p:sldId id="256" r:id="rId2"/>
    <p:sldId id="260" r:id="rId3"/>
    <p:sldId id="264" r:id="rId4"/>
    <p:sldId id="263" r:id="rId5"/>
    <p:sldId id="261" r:id="rId6"/>
    <p:sldId id="268" r:id="rId7"/>
    <p:sldId id="270" r:id="rId8"/>
    <p:sldId id="271" r:id="rId9"/>
    <p:sldId id="272" r:id="rId10"/>
    <p:sldId id="274" r:id="rId11"/>
    <p:sldId id="273" r:id="rId12"/>
    <p:sldId id="275" r:id="rId13"/>
    <p:sldId id="277" r:id="rId14"/>
    <p:sldId id="278" r:id="rId15"/>
    <p:sldId id="279" r:id="rId16"/>
    <p:sldId id="281" r:id="rId17"/>
    <p:sldId id="282" r:id="rId18"/>
    <p:sldId id="283" r:id="rId19"/>
    <p:sldId id="285" r:id="rId20"/>
    <p:sldId id="287" r:id="rId21"/>
    <p:sldId id="286" r:id="rId22"/>
    <p:sldId id="288" r:id="rId23"/>
    <p:sldId id="290" r:id="rId24"/>
    <p:sldId id="289" r:id="rId25"/>
    <p:sldId id="291" r:id="rId26"/>
    <p:sldId id="292" r:id="rId27"/>
    <p:sldId id="293" r:id="rId28"/>
    <p:sldId id="294"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46" autoAdjust="0"/>
    <p:restoredTop sz="94660"/>
  </p:normalViewPr>
  <p:slideViewPr>
    <p:cSldViewPr>
      <p:cViewPr varScale="1">
        <p:scale>
          <a:sx n="77" d="100"/>
          <a:sy n="77" d="100"/>
        </p:scale>
        <p:origin x="1579"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GDISH BABOO" userId="41e4620e4a676cb5" providerId="LiveId" clId="{B2473922-57DE-474C-A006-6E60C5E3FC0F}"/>
    <pc:docChg chg="undo custSel delSld modSld">
      <pc:chgData name="JAGDISH BABOO" userId="41e4620e4a676cb5" providerId="LiveId" clId="{B2473922-57DE-474C-A006-6E60C5E3FC0F}" dt="2025-02-26T08:58:18.377" v="17" actId="255"/>
      <pc:docMkLst>
        <pc:docMk/>
      </pc:docMkLst>
      <pc:sldChg chg="modSp mod">
        <pc:chgData name="JAGDISH BABOO" userId="41e4620e4a676cb5" providerId="LiveId" clId="{B2473922-57DE-474C-A006-6E60C5E3FC0F}" dt="2025-02-26T08:32:40.488" v="11" actId="20577"/>
        <pc:sldMkLst>
          <pc:docMk/>
          <pc:sldMk cId="3741305592" sldId="277"/>
        </pc:sldMkLst>
        <pc:spChg chg="mod">
          <ac:chgData name="JAGDISH BABOO" userId="41e4620e4a676cb5" providerId="LiveId" clId="{B2473922-57DE-474C-A006-6E60C5E3FC0F}" dt="2025-02-26T08:32:40.488" v="11" actId="20577"/>
          <ac:spMkLst>
            <pc:docMk/>
            <pc:sldMk cId="3741305592" sldId="277"/>
            <ac:spMk id="3" creationId="{00000000-0000-0000-0000-000000000000}"/>
          </ac:spMkLst>
        </pc:spChg>
      </pc:sldChg>
      <pc:sldChg chg="del">
        <pc:chgData name="JAGDISH BABOO" userId="41e4620e4a676cb5" providerId="LiveId" clId="{B2473922-57DE-474C-A006-6E60C5E3FC0F}" dt="2025-02-26T08:53:08.649" v="12" actId="2696"/>
        <pc:sldMkLst>
          <pc:docMk/>
          <pc:sldMk cId="1808054273" sldId="284"/>
        </pc:sldMkLst>
      </pc:sldChg>
      <pc:sldChg chg="modSp mod">
        <pc:chgData name="JAGDISH BABOO" userId="41e4620e4a676cb5" providerId="LiveId" clId="{B2473922-57DE-474C-A006-6E60C5E3FC0F}" dt="2025-02-26T08:58:18.377" v="17" actId="255"/>
        <pc:sldMkLst>
          <pc:docMk/>
          <pc:sldMk cId="1572624549" sldId="287"/>
        </pc:sldMkLst>
        <pc:spChg chg="mod">
          <ac:chgData name="JAGDISH BABOO" userId="41e4620e4a676cb5" providerId="LiveId" clId="{B2473922-57DE-474C-A006-6E60C5E3FC0F}" dt="2025-02-26T08:58:18.377" v="17" actId="255"/>
          <ac:spMkLst>
            <pc:docMk/>
            <pc:sldMk cId="1572624549" sldId="287"/>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F968B01-A94E-4723-9268-D8819078293D}"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4004500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968B01-A94E-4723-9268-D8819078293D}"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2168949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968B01-A94E-4723-9268-D8819078293D}"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1801888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F968B01-A94E-4723-9268-D8819078293D}" type="datetimeFigureOut">
              <a:rPr lang="en-US" smtClean="0"/>
              <a:t>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2971804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968B01-A94E-4723-9268-D8819078293D}" type="datetimeFigureOut">
              <a:rPr lang="en-US" smtClean="0"/>
              <a:t>2/26/2025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3077192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968B01-A94E-4723-9268-D8819078293D}" type="datetimeFigureOut">
              <a:rPr lang="en-US" smtClean="0"/>
              <a:t>2/26/2025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3905216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968B01-A94E-4723-9268-D8819078293D}" type="datetimeFigureOut">
              <a:rPr lang="en-US" smtClean="0"/>
              <a:t>2/26/2025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2099891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F968B01-A94E-4723-9268-D8819078293D}" type="datetimeFigureOut">
              <a:rPr lang="en-US" smtClean="0"/>
              <a:t>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2563805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968B01-A94E-4723-9268-D8819078293D}" type="datetimeFigureOut">
              <a:rPr lang="en-US" smtClean="0"/>
              <a:t>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564014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968B01-A94E-4723-9268-D8819078293D}"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1790861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968B01-A94E-4723-9268-D8819078293D}"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90F43-A763-4A07-AD0E-DE2F2F54E5BB}"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961818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968B01-A94E-4723-9268-D8819078293D}"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29364798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968B01-A94E-4723-9268-D8819078293D}"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90F43-A763-4A07-AD0E-DE2F2F54E5BB}"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185400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968B01-A94E-4723-9268-D8819078293D}"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7912940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968B01-A94E-4723-9268-D8819078293D}"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1472865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968B01-A94E-4723-9268-D8819078293D}"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90F43-A763-4A07-AD0E-DE2F2F54E5BB}" type="slidenum">
              <a:rPr lang="en-US" smtClean="0"/>
              <a:t>‹#›</a:t>
            </a:fld>
            <a:endParaRPr lang="en-US"/>
          </a:p>
        </p:txBody>
      </p:sp>
    </p:spTree>
    <p:extLst>
      <p:ext uri="{BB962C8B-B14F-4D97-AF65-F5344CB8AC3E}">
        <p14:creationId xmlns:p14="http://schemas.microsoft.com/office/powerpoint/2010/main" val="1326156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968B01-A94E-4723-9268-D8819078293D}" type="datetimeFigureOut">
              <a:rPr lang="en-US" smtClean="0"/>
              <a:t>2/26/2025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7A090F43-A763-4A07-AD0E-DE2F2F54E5BB}" type="slidenum">
              <a:rPr lang="en-US" smtClean="0"/>
              <a:t>‹#›</a:t>
            </a:fld>
            <a:endParaRPr lang="en-US"/>
          </a:p>
        </p:txBody>
      </p:sp>
    </p:spTree>
    <p:extLst>
      <p:ext uri="{BB962C8B-B14F-4D97-AF65-F5344CB8AC3E}">
        <p14:creationId xmlns:p14="http://schemas.microsoft.com/office/powerpoint/2010/main" val="3429975349"/>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 id="2147483826" r:id="rId12"/>
    <p:sldLayoutId id="2147483827" r:id="rId13"/>
    <p:sldLayoutId id="2147483828" r:id="rId14"/>
    <p:sldLayoutId id="2147483829" r:id="rId15"/>
    <p:sldLayoutId id="214748383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50825"/>
            <a:ext cx="9144000" cy="1470025"/>
          </a:xfrm>
        </p:spPr>
        <p:txBody>
          <a:bodyPr/>
          <a:lstStyle/>
          <a:p>
            <a:pPr algn="ctr"/>
            <a:r>
              <a:rPr lang="en-US" b="1" dirty="0"/>
              <a:t> </a:t>
            </a:r>
            <a:r>
              <a:rPr lang="en-US" b="1" dirty="0">
                <a:latin typeface="Times New Roman" pitchFamily="18" charset="0"/>
                <a:cs typeface="Times New Roman" pitchFamily="18" charset="0"/>
              </a:rPr>
              <a:t>Software Testing</a:t>
            </a:r>
          </a:p>
        </p:txBody>
      </p:sp>
      <p:sp>
        <p:nvSpPr>
          <p:cNvPr id="3" name="Subtitle 2"/>
          <p:cNvSpPr>
            <a:spLocks noGrp="1"/>
          </p:cNvSpPr>
          <p:nvPr>
            <p:ph type="subTitle" idx="1"/>
          </p:nvPr>
        </p:nvSpPr>
        <p:spPr>
          <a:xfrm>
            <a:off x="0" y="1524000"/>
            <a:ext cx="9144000" cy="5791200"/>
          </a:xfrm>
        </p:spPr>
        <p:txBody>
          <a:bodyPr/>
          <a:lstStyle/>
          <a:p>
            <a:pPr algn="l"/>
            <a:r>
              <a:rPr lang="en-US" b="1" dirty="0">
                <a:solidFill>
                  <a:schemeClr val="tx1"/>
                </a:solidFill>
                <a:latin typeface="Times New Roman" pitchFamily="18" charset="0"/>
                <a:cs typeface="Times New Roman" pitchFamily="18" charset="0"/>
              </a:rPr>
              <a:t>	</a:t>
            </a:r>
            <a:r>
              <a:rPr lang="en-US" sz="3600" b="1" dirty="0">
                <a:solidFill>
                  <a:schemeClr val="tx1"/>
                </a:solidFill>
                <a:latin typeface="Times New Roman" pitchFamily="18" charset="0"/>
                <a:cs typeface="Times New Roman" pitchFamily="18" charset="0"/>
              </a:rPr>
              <a:t>Module - 1</a:t>
            </a:r>
          </a:p>
          <a:p>
            <a:pPr marL="1943100" lvl="3" indent="-571500" algn="l">
              <a:buFont typeface="+mj-lt"/>
              <a:buAutoNum type="romanUcPeriod"/>
            </a:pPr>
            <a:r>
              <a:rPr lang="en-US" sz="3200" b="1" dirty="0">
                <a:solidFill>
                  <a:schemeClr val="tx1"/>
                </a:solidFill>
                <a:latin typeface="Times New Roman" pitchFamily="18" charset="0"/>
                <a:cs typeface="Times New Roman" pitchFamily="18" charset="0"/>
              </a:rPr>
              <a:t>Testing Basics</a:t>
            </a:r>
          </a:p>
          <a:p>
            <a:pPr marL="1943100" lvl="3" indent="-571500" algn="l">
              <a:buFont typeface="+mj-lt"/>
              <a:buAutoNum type="romanUcPeriod"/>
            </a:pPr>
            <a:r>
              <a:rPr lang="en-US" sz="3200" b="1" dirty="0">
                <a:solidFill>
                  <a:schemeClr val="tx1"/>
                </a:solidFill>
                <a:latin typeface="Times New Roman" pitchFamily="18" charset="0"/>
                <a:cs typeface="Times New Roman" pitchFamily="18" charset="0"/>
              </a:rPr>
              <a:t>Test Case Design</a:t>
            </a:r>
          </a:p>
          <a:p>
            <a:pPr marL="1943100" lvl="3" indent="-571500" algn="l">
              <a:buFont typeface="+mj-lt"/>
              <a:buAutoNum type="romanUcPeriod"/>
            </a:pPr>
            <a:r>
              <a:rPr lang="en-US" sz="3200" b="1" dirty="0">
                <a:solidFill>
                  <a:schemeClr val="tx1"/>
                </a:solidFill>
                <a:latin typeface="Times New Roman" pitchFamily="18" charset="0"/>
                <a:cs typeface="Times New Roman" pitchFamily="18" charset="0"/>
              </a:rPr>
              <a:t> Levels of Testing</a:t>
            </a:r>
          </a:p>
          <a:p>
            <a:pPr algn="l"/>
            <a:endParaRPr lang="en-US" b="1" dirty="0">
              <a:solidFill>
                <a:schemeClr val="tx1"/>
              </a:solidFill>
              <a:latin typeface="Times New Roman" pitchFamily="18" charset="0"/>
              <a:cs typeface="Times New Roman" pitchFamily="18" charset="0"/>
            </a:endParaRPr>
          </a:p>
          <a:p>
            <a:pPr marL="457200" indent="-457200" algn="l">
              <a:buFont typeface="Arial" pitchFamily="34" charset="0"/>
              <a:buChar char="•"/>
            </a:pPr>
            <a:endParaRPr lang="en-US"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53984225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097"/>
            <a:ext cx="9144000" cy="1154097"/>
          </a:xfrm>
        </p:spPr>
        <p:txBody>
          <a:bodyPr>
            <a:normAutofit/>
          </a:bodyPr>
          <a:lstStyle/>
          <a:p>
            <a:pPr algn="ctr"/>
            <a:r>
              <a:rPr lang="en-US" sz="4400" b="1" dirty="0">
                <a:latin typeface="Times New Roman" pitchFamily="18" charset="0"/>
                <a:cs typeface="Times New Roman" pitchFamily="18" charset="0"/>
              </a:rPr>
              <a:t>Software Testing</a:t>
            </a:r>
          </a:p>
        </p:txBody>
      </p:sp>
      <p:sp>
        <p:nvSpPr>
          <p:cNvPr id="3" name="Content Placeholder 2"/>
          <p:cNvSpPr>
            <a:spLocks noGrp="1"/>
          </p:cNvSpPr>
          <p:nvPr>
            <p:ph idx="1"/>
          </p:nvPr>
        </p:nvSpPr>
        <p:spPr>
          <a:xfrm>
            <a:off x="0" y="1295401"/>
            <a:ext cx="9144000" cy="5791200"/>
          </a:xfrm>
        </p:spPr>
        <p:txBody>
          <a:bodyPr>
            <a:normAutofit/>
          </a:bodyPr>
          <a:lstStyle/>
          <a:p>
            <a:pPr marL="45720" indent="0" algn="just">
              <a:buNone/>
            </a:pPr>
            <a:r>
              <a:rPr lang="en-US" sz="2200" b="1" dirty="0">
                <a:latin typeface="Times New Roman" pitchFamily="18" charset="0"/>
                <a:cs typeface="Times New Roman" pitchFamily="18" charset="0"/>
              </a:rPr>
              <a:t>Software Testing</a:t>
            </a:r>
            <a:r>
              <a:rPr lang="en-US" sz="2200" dirty="0">
                <a:latin typeface="Times New Roman" pitchFamily="18" charset="0"/>
                <a:cs typeface="Times New Roman" pitchFamily="18" charset="0"/>
              </a:rPr>
              <a:t> is the process of checking if a software application works correctly and meets the set requirements. It involves running the software in different situations to find any mistakes, bugs, or missing features.</a:t>
            </a:r>
          </a:p>
          <a:p>
            <a:pPr marL="45720" indent="0" algn="just">
              <a:buNone/>
            </a:pPr>
            <a:r>
              <a:rPr lang="en-US" sz="2200" b="1" dirty="0">
                <a:latin typeface="Times New Roman" pitchFamily="18" charset="0"/>
                <a:cs typeface="Times New Roman" pitchFamily="18" charset="0"/>
              </a:rPr>
              <a:t>The main goals of software testing are:</a:t>
            </a:r>
          </a:p>
          <a:p>
            <a:pPr algn="just"/>
            <a:r>
              <a:rPr lang="en-US" sz="2200" b="1" dirty="0">
                <a:latin typeface="Times New Roman" pitchFamily="18" charset="0"/>
                <a:cs typeface="Times New Roman" pitchFamily="18" charset="0"/>
              </a:rPr>
              <a:t> Ensure Quality</a:t>
            </a:r>
            <a:r>
              <a:rPr lang="en-US" sz="2200" dirty="0">
                <a:latin typeface="Times New Roman" pitchFamily="18" charset="0"/>
                <a:cs typeface="Times New Roman" pitchFamily="18" charset="0"/>
              </a:rPr>
              <a:t>: Make sure the software works as expected and meets users' needs.</a:t>
            </a:r>
          </a:p>
          <a:p>
            <a:pPr algn="just"/>
            <a:r>
              <a:rPr lang="en-US" sz="2200" b="1" dirty="0">
                <a:latin typeface="Times New Roman" pitchFamily="18" charset="0"/>
                <a:cs typeface="Times New Roman" pitchFamily="18" charset="0"/>
              </a:rPr>
              <a:t> Find Defects</a:t>
            </a:r>
            <a:r>
              <a:rPr lang="en-US" sz="2200" dirty="0">
                <a:latin typeface="Times New Roman" pitchFamily="18" charset="0"/>
                <a:cs typeface="Times New Roman" pitchFamily="18" charset="0"/>
              </a:rPr>
              <a:t>: Spot and fix any problems before the software is launched.</a:t>
            </a:r>
          </a:p>
          <a:p>
            <a:pPr algn="just"/>
            <a:r>
              <a:rPr lang="en-US" sz="2200" b="1" dirty="0">
                <a:latin typeface="Times New Roman" pitchFamily="18" charset="0"/>
                <a:cs typeface="Times New Roman" pitchFamily="18" charset="0"/>
              </a:rPr>
              <a:t> Check Functionality</a:t>
            </a:r>
            <a:r>
              <a:rPr lang="en-US" sz="2200" dirty="0">
                <a:latin typeface="Times New Roman" pitchFamily="18" charset="0"/>
                <a:cs typeface="Times New Roman" pitchFamily="18" charset="0"/>
              </a:rPr>
              <a:t>: Confirm the software works correctly in different scenarios.</a:t>
            </a:r>
          </a:p>
          <a:p>
            <a:pPr algn="just"/>
            <a:r>
              <a:rPr lang="en-US" sz="2200" b="1" dirty="0">
                <a:latin typeface="Times New Roman" pitchFamily="18" charset="0"/>
                <a:cs typeface="Times New Roman" pitchFamily="18" charset="0"/>
              </a:rPr>
              <a:t> Improve Performance</a:t>
            </a:r>
            <a:r>
              <a:rPr lang="en-US" sz="2200" dirty="0">
                <a:latin typeface="Times New Roman" pitchFamily="18" charset="0"/>
                <a:cs typeface="Times New Roman" pitchFamily="18" charset="0"/>
              </a:rPr>
              <a:t>: Ensure the software runs smoothly under normal use.</a:t>
            </a:r>
          </a:p>
          <a:p>
            <a:pPr marL="45720" indent="0" algn="just">
              <a:buNone/>
            </a:pPr>
            <a:r>
              <a:rPr lang="en-US" sz="2200" b="1" dirty="0">
                <a:latin typeface="Times New Roman" pitchFamily="18" charset="0"/>
                <a:cs typeface="Times New Roman" pitchFamily="18" charset="0"/>
              </a:rPr>
              <a:t>Software Testing</a:t>
            </a:r>
            <a:r>
              <a:rPr lang="en-US" sz="2200" dirty="0">
                <a:latin typeface="Times New Roman" pitchFamily="18" charset="0"/>
                <a:cs typeface="Times New Roman" pitchFamily="18" charset="0"/>
              </a:rPr>
              <a:t> is a crucial step in developing software. It helps confirm that the software is free of bugs, meets the design and technical standards, and fulfills user requirements effectively.</a:t>
            </a:r>
          </a:p>
        </p:txBody>
      </p:sp>
    </p:spTree>
    <p:extLst>
      <p:ext uri="{BB962C8B-B14F-4D97-AF65-F5344CB8AC3E}">
        <p14:creationId xmlns:p14="http://schemas.microsoft.com/office/powerpoint/2010/main" val="2165697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144000" cy="1154097"/>
          </a:xfrm>
        </p:spPr>
        <p:txBody>
          <a:bodyPr>
            <a:normAutofit/>
          </a:bodyPr>
          <a:lstStyle/>
          <a:p>
            <a:pPr algn="ctr"/>
            <a:r>
              <a:rPr lang="en-US" sz="4400" b="1" dirty="0">
                <a:latin typeface="Times New Roman" pitchFamily="18" charset="0"/>
                <a:cs typeface="Times New Roman" pitchFamily="18" charset="0"/>
              </a:rPr>
              <a:t>Software Testing</a:t>
            </a:r>
          </a:p>
        </p:txBody>
      </p:sp>
      <p:sp>
        <p:nvSpPr>
          <p:cNvPr id="3" name="Content Placeholder 2"/>
          <p:cNvSpPr>
            <a:spLocks noGrp="1"/>
          </p:cNvSpPr>
          <p:nvPr>
            <p:ph idx="1"/>
          </p:nvPr>
        </p:nvSpPr>
        <p:spPr>
          <a:xfrm>
            <a:off x="0" y="1143000"/>
            <a:ext cx="9144000" cy="5791200"/>
          </a:xfrm>
        </p:spPr>
        <p:txBody>
          <a:bodyPr>
            <a:normAutofit fontScale="92500" lnSpcReduction="20000"/>
          </a:bodyPr>
          <a:lstStyle/>
          <a:p>
            <a:pPr marL="45720" indent="0" algn="just">
              <a:buNone/>
            </a:pPr>
            <a:r>
              <a:rPr lang="en-US" sz="2400" b="1" dirty="0">
                <a:latin typeface="Times New Roman" pitchFamily="18" charset="0"/>
                <a:cs typeface="Times New Roman" pitchFamily="18" charset="0"/>
              </a:rPr>
              <a:t>Basic steps in Software Testing:</a:t>
            </a:r>
            <a:endParaRPr lang="en-US" sz="2400" dirty="0">
              <a:latin typeface="Times New Roman" pitchFamily="18" charset="0"/>
              <a:cs typeface="Times New Roman" pitchFamily="18" charset="0"/>
            </a:endParaRPr>
          </a:p>
          <a:p>
            <a:pPr lvl="0" algn="just"/>
            <a:r>
              <a:rPr lang="en-US" sz="2400" b="1" dirty="0">
                <a:latin typeface="Times New Roman" pitchFamily="18" charset="0"/>
                <a:cs typeface="Times New Roman" pitchFamily="18" charset="0"/>
              </a:rPr>
              <a:t>Requirement Analysis</a:t>
            </a:r>
            <a:r>
              <a:rPr lang="en-US" sz="2400" dirty="0">
                <a:latin typeface="Times New Roman" pitchFamily="18" charset="0"/>
                <a:cs typeface="Times New Roman" pitchFamily="18" charset="0"/>
              </a:rPr>
              <a:t>: Understanding the software's requirements to identify what needs to be tested.</a:t>
            </a:r>
          </a:p>
          <a:p>
            <a:pPr lvl="0" algn="just"/>
            <a:r>
              <a:rPr lang="en-US" sz="2400" b="1" dirty="0">
                <a:latin typeface="Times New Roman" pitchFamily="18" charset="0"/>
                <a:cs typeface="Times New Roman" pitchFamily="18" charset="0"/>
              </a:rPr>
              <a:t>Test Planning</a:t>
            </a:r>
            <a:r>
              <a:rPr lang="en-US" sz="2400" dirty="0">
                <a:latin typeface="Times New Roman" pitchFamily="18" charset="0"/>
                <a:cs typeface="Times New Roman" pitchFamily="18" charset="0"/>
              </a:rPr>
              <a:t>: Developing a test plan that outlines the strategy, scope, resources, and schedule of testing activities.</a:t>
            </a:r>
          </a:p>
          <a:p>
            <a:pPr lvl="0" algn="just"/>
            <a:r>
              <a:rPr lang="en-US" sz="2400" b="1" dirty="0">
                <a:latin typeface="Times New Roman" pitchFamily="18" charset="0"/>
                <a:cs typeface="Times New Roman" pitchFamily="18" charset="0"/>
              </a:rPr>
              <a:t>Test Case Design</a:t>
            </a:r>
            <a:r>
              <a:rPr lang="en-US" sz="2400" dirty="0">
                <a:latin typeface="Times New Roman" pitchFamily="18" charset="0"/>
                <a:cs typeface="Times New Roman" pitchFamily="18" charset="0"/>
              </a:rPr>
              <a:t>: Creating detailed test cases based on the requirements and planning.</a:t>
            </a:r>
          </a:p>
          <a:p>
            <a:pPr lvl="0" algn="just"/>
            <a:r>
              <a:rPr lang="en-US" sz="2400" b="1" dirty="0">
                <a:latin typeface="Times New Roman" pitchFamily="18" charset="0"/>
                <a:cs typeface="Times New Roman" pitchFamily="18" charset="0"/>
              </a:rPr>
              <a:t>Test Environment Setup</a:t>
            </a:r>
            <a:r>
              <a:rPr lang="en-US" sz="2400" dirty="0">
                <a:latin typeface="Times New Roman" pitchFamily="18" charset="0"/>
                <a:cs typeface="Times New Roman" pitchFamily="18" charset="0"/>
              </a:rPr>
              <a:t>: Setting up the hardware, software, and network configurations needed for testing.</a:t>
            </a:r>
          </a:p>
          <a:p>
            <a:pPr lvl="0" algn="just"/>
            <a:r>
              <a:rPr lang="en-US" sz="2400" b="1" dirty="0">
                <a:latin typeface="Times New Roman" pitchFamily="18" charset="0"/>
                <a:cs typeface="Times New Roman" pitchFamily="18" charset="0"/>
              </a:rPr>
              <a:t>Test Execution</a:t>
            </a:r>
            <a:r>
              <a:rPr lang="en-US" sz="2400" dirty="0">
                <a:latin typeface="Times New Roman" pitchFamily="18" charset="0"/>
                <a:cs typeface="Times New Roman" pitchFamily="18" charset="0"/>
              </a:rPr>
              <a:t>: Running the test cases on the software to identify defects.</a:t>
            </a:r>
          </a:p>
          <a:p>
            <a:pPr lvl="0" algn="just"/>
            <a:r>
              <a:rPr lang="en-US" sz="2400" b="1" dirty="0">
                <a:latin typeface="Times New Roman" pitchFamily="18" charset="0"/>
                <a:cs typeface="Times New Roman" pitchFamily="18" charset="0"/>
              </a:rPr>
              <a:t>Defect Reporting</a:t>
            </a:r>
            <a:r>
              <a:rPr lang="en-US" sz="2400" dirty="0">
                <a:latin typeface="Times New Roman" pitchFamily="18" charset="0"/>
                <a:cs typeface="Times New Roman" pitchFamily="18" charset="0"/>
              </a:rPr>
              <a:t>: Logging and tracking defects identified during test execution.</a:t>
            </a:r>
          </a:p>
          <a:p>
            <a:pPr lvl="0" algn="just"/>
            <a:r>
              <a:rPr lang="en-US" sz="2400" b="1" dirty="0">
                <a:latin typeface="Times New Roman" pitchFamily="18" charset="0"/>
                <a:cs typeface="Times New Roman" pitchFamily="18" charset="0"/>
              </a:rPr>
              <a:t>Retesting &amp; Regression Testing</a:t>
            </a:r>
            <a:r>
              <a:rPr lang="en-US" sz="2400" dirty="0">
                <a:latin typeface="Times New Roman" pitchFamily="18" charset="0"/>
                <a:cs typeface="Times New Roman" pitchFamily="18" charset="0"/>
              </a:rPr>
              <a:t>: Fixing the reported defects, retesting to verify the fixes, and performing regression testing to ensure no new issues have been introduced.</a:t>
            </a:r>
          </a:p>
          <a:p>
            <a:pPr lvl="0" algn="just"/>
            <a:r>
              <a:rPr lang="en-US" sz="2400" b="1" dirty="0">
                <a:latin typeface="Times New Roman" pitchFamily="18" charset="0"/>
                <a:cs typeface="Times New Roman" pitchFamily="18" charset="0"/>
              </a:rPr>
              <a:t>Test Closure</a:t>
            </a:r>
            <a:r>
              <a:rPr lang="en-US" sz="2400" dirty="0">
                <a:latin typeface="Times New Roman" pitchFamily="18" charset="0"/>
                <a:cs typeface="Times New Roman" pitchFamily="18" charset="0"/>
              </a:rPr>
              <a:t>: Finalizing the testing process, documenting findings, and closing the testing phase.</a:t>
            </a:r>
          </a:p>
          <a:p>
            <a:pPr marL="45720" indent="0" algn="just">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830970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097"/>
            <a:ext cx="9144000" cy="1154097"/>
          </a:xfrm>
        </p:spPr>
        <p:txBody>
          <a:bodyPr>
            <a:normAutofit/>
          </a:bodyPr>
          <a:lstStyle/>
          <a:p>
            <a:pPr algn="ctr"/>
            <a:r>
              <a:rPr lang="en-US" sz="4400" b="1" dirty="0">
                <a:latin typeface="Times New Roman" pitchFamily="18" charset="0"/>
                <a:cs typeface="Times New Roman" pitchFamily="18" charset="0"/>
              </a:rPr>
              <a:t>Software Testing</a:t>
            </a:r>
          </a:p>
        </p:txBody>
      </p:sp>
      <p:sp>
        <p:nvSpPr>
          <p:cNvPr id="3" name="Content Placeholder 2"/>
          <p:cNvSpPr>
            <a:spLocks noGrp="1"/>
          </p:cNvSpPr>
          <p:nvPr>
            <p:ph idx="1"/>
          </p:nvPr>
        </p:nvSpPr>
        <p:spPr>
          <a:xfrm>
            <a:off x="0" y="1447801"/>
            <a:ext cx="9144000" cy="5638799"/>
          </a:xfrm>
        </p:spPr>
        <p:txBody>
          <a:bodyPr>
            <a:normAutofit/>
          </a:bodyPr>
          <a:lstStyle/>
          <a:p>
            <a:pPr marL="45720" indent="0">
              <a:buNone/>
            </a:pPr>
            <a:r>
              <a:rPr lang="en-US" sz="2400" b="1" dirty="0">
                <a:latin typeface="Times New Roman" pitchFamily="18" charset="0"/>
                <a:cs typeface="Times New Roman" pitchFamily="18" charset="0"/>
              </a:rPr>
              <a:t>Importance:</a:t>
            </a:r>
          </a:p>
          <a:p>
            <a:pPr lvl="1"/>
            <a:r>
              <a:rPr lang="en-US" sz="2400" dirty="0">
                <a:latin typeface="Times New Roman" pitchFamily="18" charset="0"/>
                <a:cs typeface="Times New Roman" pitchFamily="18" charset="0"/>
              </a:rPr>
              <a:t> Ensures reliability and performance.</a:t>
            </a:r>
          </a:p>
          <a:p>
            <a:pPr lvl="1"/>
            <a:r>
              <a:rPr lang="en-US" sz="2400" dirty="0">
                <a:latin typeface="Times New Roman" pitchFamily="18" charset="0"/>
                <a:cs typeface="Times New Roman" pitchFamily="18" charset="0"/>
              </a:rPr>
              <a:t> Helps identify defects early, reducing costs.</a:t>
            </a:r>
          </a:p>
          <a:p>
            <a:pPr lvl="1"/>
            <a:r>
              <a:rPr lang="en-US" sz="2400" dirty="0">
                <a:latin typeface="Times New Roman" pitchFamily="18" charset="0"/>
                <a:cs typeface="Times New Roman" pitchFamily="18" charset="0"/>
              </a:rPr>
              <a:t> Increases user satisfaction by delivering quality software.</a:t>
            </a:r>
          </a:p>
          <a:p>
            <a:pPr marL="320040" lvl="1" indent="0">
              <a:buNone/>
            </a:pPr>
            <a:endParaRPr lang="en-US" sz="2400" dirty="0">
              <a:latin typeface="Times New Roman" pitchFamily="18" charset="0"/>
              <a:cs typeface="Times New Roman" pitchFamily="18" charset="0"/>
            </a:endParaRPr>
          </a:p>
          <a:p>
            <a:pPr marL="45720" indent="0">
              <a:buNone/>
            </a:pPr>
            <a:r>
              <a:rPr lang="en-US" sz="2400" b="1" dirty="0">
                <a:latin typeface="Times New Roman" pitchFamily="18" charset="0"/>
                <a:cs typeface="Times New Roman" pitchFamily="18" charset="0"/>
              </a:rPr>
              <a:t>Goals:</a:t>
            </a:r>
          </a:p>
          <a:p>
            <a:pPr lvl="1"/>
            <a:r>
              <a:rPr lang="en-US" sz="2400" dirty="0">
                <a:latin typeface="Times New Roman" pitchFamily="18" charset="0"/>
                <a:cs typeface="Times New Roman" pitchFamily="18" charset="0"/>
              </a:rPr>
              <a:t> Identify and fix defects.</a:t>
            </a:r>
          </a:p>
          <a:p>
            <a:pPr lvl="1"/>
            <a:r>
              <a:rPr lang="en-US" sz="2400" dirty="0">
                <a:latin typeface="Times New Roman" pitchFamily="18" charset="0"/>
                <a:cs typeface="Times New Roman" pitchFamily="18" charset="0"/>
              </a:rPr>
              <a:t> Validate and verify the software.</a:t>
            </a:r>
          </a:p>
          <a:p>
            <a:pPr lvl="1"/>
            <a:r>
              <a:rPr lang="en-US" sz="2400" dirty="0">
                <a:latin typeface="Times New Roman" pitchFamily="18" charset="0"/>
                <a:cs typeface="Times New Roman" pitchFamily="18" charset="0"/>
              </a:rPr>
              <a:t> Ensure compliance with requirements.</a:t>
            </a:r>
          </a:p>
          <a:p>
            <a:pPr algn="just"/>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256418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097"/>
            <a:ext cx="9144000" cy="1154097"/>
          </a:xfrm>
        </p:spPr>
        <p:txBody>
          <a:bodyPr>
            <a:normAutofit/>
          </a:bodyPr>
          <a:lstStyle/>
          <a:p>
            <a:pPr algn="just"/>
            <a:r>
              <a:rPr lang="en-US" b="1" dirty="0">
                <a:latin typeface="Times New Roman" pitchFamily="18" charset="0"/>
                <a:cs typeface="Times New Roman" pitchFamily="18" charset="0"/>
              </a:rPr>
              <a:t> Testing as an Engineering Activity</a:t>
            </a:r>
          </a:p>
        </p:txBody>
      </p:sp>
      <p:sp>
        <p:nvSpPr>
          <p:cNvPr id="3" name="Content Placeholder 2"/>
          <p:cNvSpPr>
            <a:spLocks noGrp="1"/>
          </p:cNvSpPr>
          <p:nvPr>
            <p:ph idx="1"/>
          </p:nvPr>
        </p:nvSpPr>
        <p:spPr>
          <a:xfrm>
            <a:off x="0" y="1463040"/>
            <a:ext cx="9144000" cy="5394960"/>
          </a:xfrm>
        </p:spPr>
        <p:txBody>
          <a:bodyPr>
            <a:normAutofit/>
          </a:bodyPr>
          <a:lstStyle/>
          <a:p>
            <a:pPr marL="45720" indent="0" algn="just">
              <a:buNone/>
            </a:pPr>
            <a:r>
              <a:rPr lang="en-US" sz="2200" b="1" dirty="0">
                <a:latin typeface="Times New Roman" pitchFamily="18" charset="0"/>
                <a:cs typeface="Times New Roman" pitchFamily="18" charset="0"/>
              </a:rPr>
              <a:t>Importance of Testing as an Engineering Discipline (Key Points):</a:t>
            </a:r>
          </a:p>
          <a:p>
            <a:pPr algn="just"/>
            <a:r>
              <a:rPr lang="en-US" sz="2200" b="1" dirty="0">
                <a:latin typeface="Times New Roman" pitchFamily="18" charset="0"/>
                <a:cs typeface="Times New Roman" pitchFamily="18" charset="0"/>
              </a:rPr>
              <a:t>Ensures Quality: </a:t>
            </a:r>
            <a:r>
              <a:rPr lang="en-US" sz="2200" dirty="0">
                <a:latin typeface="Times New Roman" pitchFamily="18" charset="0"/>
                <a:cs typeface="Times New Roman" pitchFamily="18" charset="0"/>
              </a:rPr>
              <a:t>Verifies software meets requirements and identifies defects.</a:t>
            </a:r>
          </a:p>
          <a:p>
            <a:pPr algn="just"/>
            <a:r>
              <a:rPr lang="en-US" sz="2200" b="1" dirty="0">
                <a:latin typeface="Times New Roman" pitchFamily="18" charset="0"/>
                <a:cs typeface="Times New Roman" pitchFamily="18" charset="0"/>
              </a:rPr>
              <a:t>Improves Reliability: </a:t>
            </a:r>
            <a:r>
              <a:rPr lang="en-US" sz="2200" dirty="0">
                <a:latin typeface="Times New Roman" pitchFamily="18" charset="0"/>
                <a:cs typeface="Times New Roman" pitchFamily="18" charset="0"/>
              </a:rPr>
              <a:t>Ensures consistent, expected performance under various conditions.</a:t>
            </a:r>
          </a:p>
          <a:p>
            <a:pPr algn="just"/>
            <a:r>
              <a:rPr lang="en-US" sz="2200" b="1" dirty="0">
                <a:latin typeface="Times New Roman" pitchFamily="18" charset="0"/>
                <a:cs typeface="Times New Roman" pitchFamily="18" charset="0"/>
              </a:rPr>
              <a:t>Customer Satisfaction: </a:t>
            </a:r>
            <a:r>
              <a:rPr lang="en-US" sz="2200" dirty="0">
                <a:latin typeface="Times New Roman" pitchFamily="18" charset="0"/>
                <a:cs typeface="Times New Roman" pitchFamily="18" charset="0"/>
              </a:rPr>
              <a:t>Delivers functional software that meets user expectations.</a:t>
            </a:r>
          </a:p>
          <a:p>
            <a:pPr algn="just"/>
            <a:r>
              <a:rPr lang="en-US" sz="2200" b="1" dirty="0">
                <a:latin typeface="Times New Roman" pitchFamily="18" charset="0"/>
                <a:cs typeface="Times New Roman" pitchFamily="18" charset="0"/>
              </a:rPr>
              <a:t>Cost Efficiency: </a:t>
            </a:r>
            <a:r>
              <a:rPr lang="en-US" sz="2200" dirty="0">
                <a:latin typeface="Times New Roman" pitchFamily="18" charset="0"/>
                <a:cs typeface="Times New Roman" pitchFamily="18" charset="0"/>
              </a:rPr>
              <a:t>Early defect detection reduces expensive late fixes.</a:t>
            </a:r>
          </a:p>
          <a:p>
            <a:pPr algn="just"/>
            <a:r>
              <a:rPr lang="en-US" sz="2200" b="1" dirty="0">
                <a:latin typeface="Times New Roman" pitchFamily="18" charset="0"/>
                <a:cs typeface="Times New Roman" pitchFamily="18" charset="0"/>
              </a:rPr>
              <a:t>Compliance and Standards:</a:t>
            </a:r>
            <a:r>
              <a:rPr lang="en-US" sz="2200" dirty="0">
                <a:latin typeface="Times New Roman" pitchFamily="18" charset="0"/>
                <a:cs typeface="Times New Roman" pitchFamily="18" charset="0"/>
              </a:rPr>
              <a:t> Ensures software meets industry regulations.</a:t>
            </a:r>
          </a:p>
          <a:p>
            <a:pPr algn="just"/>
            <a:r>
              <a:rPr lang="en-US" sz="2200" b="1" dirty="0">
                <a:latin typeface="Times New Roman" pitchFamily="18" charset="0"/>
                <a:cs typeface="Times New Roman" pitchFamily="18" charset="0"/>
              </a:rPr>
              <a:t>Continuous Improvement: </a:t>
            </a:r>
            <a:r>
              <a:rPr lang="en-US" sz="2200" dirty="0">
                <a:latin typeface="Times New Roman" pitchFamily="18" charset="0"/>
                <a:cs typeface="Times New Roman" pitchFamily="18" charset="0"/>
              </a:rPr>
              <a:t>Supports iterative development and feedback for ongoing refinement.</a:t>
            </a:r>
          </a:p>
        </p:txBody>
      </p:sp>
    </p:spTree>
    <p:extLst>
      <p:ext uri="{BB962C8B-B14F-4D97-AF65-F5344CB8AC3E}">
        <p14:creationId xmlns:p14="http://schemas.microsoft.com/office/powerpoint/2010/main" val="3577201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144000" cy="914400"/>
          </a:xfrm>
        </p:spPr>
        <p:txBody>
          <a:bodyPr>
            <a:normAutofit/>
          </a:bodyPr>
          <a:lstStyle/>
          <a:p>
            <a:pPr algn="just"/>
            <a:r>
              <a:rPr lang="en-US" b="1" dirty="0"/>
              <a:t> </a:t>
            </a:r>
            <a:r>
              <a:rPr lang="en-US" b="1" dirty="0">
                <a:latin typeface="Times New Roman" pitchFamily="18" charset="0"/>
                <a:cs typeface="Times New Roman" pitchFamily="18" charset="0"/>
              </a:rPr>
              <a:t>Role of Process in Software Quality</a:t>
            </a:r>
          </a:p>
        </p:txBody>
      </p:sp>
      <p:sp>
        <p:nvSpPr>
          <p:cNvPr id="3" name="Content Placeholder 2"/>
          <p:cNvSpPr>
            <a:spLocks noGrp="1"/>
          </p:cNvSpPr>
          <p:nvPr>
            <p:ph idx="1"/>
          </p:nvPr>
        </p:nvSpPr>
        <p:spPr>
          <a:xfrm>
            <a:off x="0" y="1143000"/>
            <a:ext cx="9144000" cy="5638800"/>
          </a:xfrm>
        </p:spPr>
        <p:txBody>
          <a:bodyPr>
            <a:noAutofit/>
          </a:bodyPr>
          <a:lstStyle/>
          <a:p>
            <a:pPr marL="45720" indent="0" algn="just">
              <a:buNone/>
            </a:pPr>
            <a:r>
              <a:rPr lang="en-US" sz="2400" dirty="0">
                <a:latin typeface="Times New Roman" pitchFamily="18" charset="0"/>
                <a:cs typeface="Times New Roman" pitchFamily="18" charset="0"/>
              </a:rPr>
              <a:t>In software testing, processes ensure a structured approach, consistent execution, and thorough test coverage. They help plan tests, manage risks, maintain reproducibility, and improve efficiency. Well-defined processes also provide traceability, documentation, and continuous improvement, ultimately enhancing software quality and reducing defects.</a:t>
            </a:r>
          </a:p>
        </p:txBody>
      </p:sp>
      <p:pic>
        <p:nvPicPr>
          <p:cNvPr id="4" name="Picture 3" descr="Testing as an Engineering Activity, Role of Process in Software Quality,  Testing as a Process - YouTube"/>
          <p:cNvPicPr/>
          <p:nvPr/>
        </p:nvPicPr>
        <p:blipFill rotWithShape="1">
          <a:blip r:embed="rId2">
            <a:extLst>
              <a:ext uri="{28A0092B-C50C-407E-A947-70E740481C1C}">
                <a14:useLocalDpi xmlns:a14="http://schemas.microsoft.com/office/drawing/2010/main" val="0"/>
              </a:ext>
            </a:extLst>
          </a:blip>
          <a:srcRect l="4217" t="7088" r="8126" b="7088"/>
          <a:stretch/>
        </p:blipFill>
        <p:spPr bwMode="auto">
          <a:xfrm>
            <a:off x="1295400" y="3505200"/>
            <a:ext cx="6553200" cy="3200400"/>
          </a:xfrm>
          <a:prstGeom prst="rect">
            <a:avLst/>
          </a:prstGeom>
          <a:solidFill>
            <a:srgbClr val="FFFFFF">
              <a:shade val="85000"/>
            </a:srgbClr>
          </a:solidFill>
          <a:ln w="88900" cap="sq">
            <a:solidFill>
              <a:schemeClr val="tx2">
                <a:lumMod val="60000"/>
                <a:lumOff val="40000"/>
              </a:schemeClr>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53640926-AAD7-44D8-BBD7-CCE9431645EC}">
              <a14:shadowObscured xmlns:a14="http://schemas.microsoft.com/office/drawing/2010/main"/>
            </a:ext>
          </a:extLst>
        </p:spPr>
      </p:pic>
    </p:spTree>
    <p:extLst>
      <p:ext uri="{BB962C8B-B14F-4D97-AF65-F5344CB8AC3E}">
        <p14:creationId xmlns:p14="http://schemas.microsoft.com/office/powerpoint/2010/main" val="1438097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914400"/>
          </a:xfrm>
        </p:spPr>
        <p:txBody>
          <a:bodyPr>
            <a:normAutofit/>
          </a:bodyPr>
          <a:lstStyle/>
          <a:p>
            <a:pPr algn="just"/>
            <a:r>
              <a:rPr lang="en-US" b="1" dirty="0"/>
              <a:t> </a:t>
            </a:r>
            <a:r>
              <a:rPr lang="en-US" b="1" dirty="0">
                <a:latin typeface="Times New Roman" pitchFamily="18" charset="0"/>
                <a:cs typeface="Times New Roman" pitchFamily="18" charset="0"/>
              </a:rPr>
              <a:t>Testing as a Process</a:t>
            </a:r>
          </a:p>
        </p:txBody>
      </p:sp>
      <p:pic>
        <p:nvPicPr>
          <p:cNvPr id="2051"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752600"/>
            <a:ext cx="7772400" cy="4343400"/>
          </a:xfrm>
          <a:prstGeom prst="rect">
            <a:avLst/>
          </a:prstGeom>
          <a:solidFill>
            <a:srgbClr val="FFFFFF">
              <a:shade val="85000"/>
            </a:srgbClr>
          </a:solidFill>
          <a:ln w="190500" cap="rnd">
            <a:solidFill>
              <a:schemeClr val="tx2">
                <a:lumMod val="60000"/>
                <a:lumOff val="40000"/>
              </a:schemeClr>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417207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914400"/>
          </a:xfrm>
        </p:spPr>
        <p:txBody>
          <a:bodyPr>
            <a:normAutofit/>
          </a:bodyPr>
          <a:lstStyle/>
          <a:p>
            <a:pPr algn="just"/>
            <a:r>
              <a:rPr lang="en-US" b="1" dirty="0"/>
              <a:t> </a:t>
            </a:r>
            <a:r>
              <a:rPr lang="en-US" b="1" dirty="0">
                <a:latin typeface="Times New Roman" pitchFamily="18" charset="0"/>
                <a:cs typeface="Times New Roman" pitchFamily="18" charset="0"/>
              </a:rPr>
              <a:t>Testing as a Process</a:t>
            </a:r>
          </a:p>
        </p:txBody>
      </p:sp>
      <p:sp>
        <p:nvSpPr>
          <p:cNvPr id="3" name="Content Placeholder 2"/>
          <p:cNvSpPr>
            <a:spLocks noGrp="1"/>
          </p:cNvSpPr>
          <p:nvPr>
            <p:ph idx="1"/>
          </p:nvPr>
        </p:nvSpPr>
        <p:spPr>
          <a:xfrm>
            <a:off x="304800" y="1524000"/>
            <a:ext cx="8458200" cy="5181600"/>
          </a:xfrm>
        </p:spPr>
        <p:txBody>
          <a:bodyPr>
            <a:normAutofit/>
          </a:bodyPr>
          <a:lstStyle/>
          <a:p>
            <a:pPr algn="just"/>
            <a:r>
              <a:rPr lang="en-US" sz="2400" b="1" dirty="0">
                <a:latin typeface="Times New Roman" pitchFamily="18" charset="0"/>
                <a:cs typeface="Times New Roman" pitchFamily="18" charset="0"/>
              </a:rPr>
              <a:t>Assess the Development Plan and Status</a:t>
            </a:r>
            <a:r>
              <a:rPr lang="en-US" sz="2400" dirty="0">
                <a:latin typeface="Times New Roman" pitchFamily="18" charset="0"/>
                <a:cs typeface="Times New Roman" pitchFamily="18" charset="0"/>
              </a:rPr>
              <a:t>: Understand the project scope, development progress, and testing goals.</a:t>
            </a:r>
          </a:p>
          <a:p>
            <a:pPr algn="just"/>
            <a:r>
              <a:rPr lang="en-US" sz="2400" b="1" dirty="0">
                <a:latin typeface="Times New Roman" pitchFamily="18" charset="0"/>
                <a:cs typeface="Times New Roman" pitchFamily="18" charset="0"/>
              </a:rPr>
              <a:t>Develop the Test Plan</a:t>
            </a:r>
            <a:r>
              <a:rPr lang="en-US" sz="2400" dirty="0">
                <a:latin typeface="Times New Roman" pitchFamily="18" charset="0"/>
                <a:cs typeface="Times New Roman" pitchFamily="18" charset="0"/>
              </a:rPr>
              <a:t>: Strategize testing by defining scope, methods, tools, and resources.</a:t>
            </a:r>
          </a:p>
          <a:p>
            <a:pPr algn="just"/>
            <a:r>
              <a:rPr lang="en-US" sz="2400" b="1" dirty="0">
                <a:latin typeface="Times New Roman" pitchFamily="18" charset="0"/>
                <a:cs typeface="Times New Roman" pitchFamily="18" charset="0"/>
              </a:rPr>
              <a:t>Create Test Cases</a:t>
            </a:r>
            <a:r>
              <a:rPr lang="en-US" sz="2400" dirty="0">
                <a:latin typeface="Times New Roman" pitchFamily="18" charset="0"/>
                <a:cs typeface="Times New Roman" pitchFamily="18" charset="0"/>
              </a:rPr>
              <a:t>: Develop specific test cases detailing what, how, and expected results.</a:t>
            </a:r>
          </a:p>
          <a:p>
            <a:pPr algn="just"/>
            <a:r>
              <a:rPr lang="en-US" sz="2400" b="1" dirty="0">
                <a:latin typeface="Times New Roman" pitchFamily="18" charset="0"/>
                <a:cs typeface="Times New Roman" pitchFamily="18" charset="0"/>
              </a:rPr>
              <a:t>Setup Test Environment</a:t>
            </a:r>
            <a:r>
              <a:rPr lang="en-US" sz="2400" dirty="0">
                <a:latin typeface="Times New Roman" pitchFamily="18" charset="0"/>
                <a:cs typeface="Times New Roman" pitchFamily="18" charset="0"/>
              </a:rPr>
              <a:t>: Prepare hardware and software mimicking the production environment.</a:t>
            </a:r>
          </a:p>
          <a:p>
            <a:pPr algn="just"/>
            <a:r>
              <a:rPr lang="en-US" sz="2400" b="1" dirty="0">
                <a:latin typeface="Times New Roman" pitchFamily="18" charset="0"/>
                <a:cs typeface="Times New Roman" pitchFamily="18" charset="0"/>
              </a:rPr>
              <a:t>Execute Your Tests</a:t>
            </a:r>
            <a:r>
              <a:rPr lang="en-US" sz="2400" dirty="0">
                <a:latin typeface="Times New Roman" pitchFamily="18" charset="0"/>
                <a:cs typeface="Times New Roman" pitchFamily="18" charset="0"/>
              </a:rPr>
              <a:t>: Run the tests, observe behavior, and log defects if results deviate.</a:t>
            </a:r>
          </a:p>
          <a:p>
            <a:pPr algn="just"/>
            <a:r>
              <a:rPr lang="en-US" sz="2400" b="1" dirty="0">
                <a:latin typeface="Times New Roman" pitchFamily="18" charset="0"/>
                <a:cs typeface="Times New Roman" pitchFamily="18" charset="0"/>
              </a:rPr>
              <a:t>Report Test Results</a:t>
            </a:r>
            <a:r>
              <a:rPr lang="en-US" sz="2400" dirty="0">
                <a:latin typeface="Times New Roman" pitchFamily="18" charset="0"/>
                <a:cs typeface="Times New Roman" pitchFamily="18" charset="0"/>
              </a:rPr>
              <a:t>: Compile a report on testing, defects, and software quality to inform stakeholders.</a:t>
            </a:r>
          </a:p>
        </p:txBody>
      </p:sp>
    </p:spTree>
    <p:extLst>
      <p:ext uri="{BB962C8B-B14F-4D97-AF65-F5344CB8AC3E}">
        <p14:creationId xmlns:p14="http://schemas.microsoft.com/office/powerpoint/2010/main" val="1417207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914400"/>
          </a:xfrm>
        </p:spPr>
        <p:txBody>
          <a:bodyPr>
            <a:normAutofit/>
          </a:bodyPr>
          <a:lstStyle/>
          <a:p>
            <a:r>
              <a:rPr lang="en-US" b="1" dirty="0">
                <a:latin typeface="Times New Roman" pitchFamily="18" charset="0"/>
                <a:cs typeface="Times New Roman" pitchFamily="18" charset="0"/>
              </a:rPr>
              <a:t>Basic Definitions:</a:t>
            </a:r>
          </a:p>
        </p:txBody>
      </p:sp>
      <p:sp>
        <p:nvSpPr>
          <p:cNvPr id="3" name="Content Placeholder 2"/>
          <p:cNvSpPr>
            <a:spLocks noGrp="1"/>
          </p:cNvSpPr>
          <p:nvPr>
            <p:ph idx="1"/>
          </p:nvPr>
        </p:nvSpPr>
        <p:spPr>
          <a:xfrm>
            <a:off x="152400" y="1295400"/>
            <a:ext cx="8763000" cy="5410200"/>
          </a:xfrm>
        </p:spPr>
        <p:txBody>
          <a:bodyPr>
            <a:noAutofit/>
          </a:bodyPr>
          <a:lstStyle/>
          <a:p>
            <a:pPr marL="45720" indent="0" algn="just">
              <a:buNone/>
            </a:pPr>
            <a:r>
              <a:rPr lang="en-US" b="1" dirty="0">
                <a:latin typeface="Times New Roman" pitchFamily="18" charset="0"/>
                <a:cs typeface="Times New Roman" pitchFamily="18" charset="0"/>
              </a:rPr>
              <a:t>Error: An error is a discrepancy between the actual value of the output given by the software and the specified correct value of the output for that input. </a:t>
            </a:r>
          </a:p>
          <a:p>
            <a:pPr marL="45720" indent="0" algn="just">
              <a:buNone/>
            </a:pPr>
            <a:r>
              <a:rPr lang="en-US" b="1" dirty="0">
                <a:latin typeface="Times New Roman" pitchFamily="18" charset="0"/>
                <a:cs typeface="Times New Roman" pitchFamily="18" charset="0"/>
              </a:rPr>
              <a:t>Error refers to the difference between actual output and correct output.</a:t>
            </a:r>
          </a:p>
          <a:p>
            <a:pPr marL="45720" indent="0" algn="just">
              <a:buNone/>
            </a:pPr>
            <a:r>
              <a:rPr lang="en-US" b="1" dirty="0">
                <a:latin typeface="Times New Roman" pitchFamily="18" charset="0"/>
                <a:cs typeface="Times New Roman" pitchFamily="18" charset="0"/>
              </a:rPr>
              <a:t>Error also refer to human actions that result in software containing a defect or fault. </a:t>
            </a:r>
          </a:p>
          <a:p>
            <a:pPr marL="45720" indent="0" algn="just">
              <a:buNone/>
            </a:pPr>
            <a:r>
              <a:rPr lang="en-US" b="1" dirty="0">
                <a:latin typeface="Times New Roman" pitchFamily="18" charset="0"/>
                <a:cs typeface="Times New Roman" pitchFamily="18" charset="0"/>
              </a:rPr>
              <a:t>Errors can be:</a:t>
            </a:r>
          </a:p>
          <a:p>
            <a:pPr lvl="1" algn="just"/>
            <a:r>
              <a:rPr lang="en-US" sz="2000" b="1" dirty="0">
                <a:latin typeface="Times New Roman" pitchFamily="18" charset="0"/>
                <a:cs typeface="Times New Roman" pitchFamily="18" charset="0"/>
              </a:rPr>
              <a:t>(i) Syntax Error: It is a program statement that violates one or more rules of language in which it is written.</a:t>
            </a:r>
          </a:p>
          <a:p>
            <a:pPr lvl="1" algn="just"/>
            <a:r>
              <a:rPr lang="en-US" sz="2000" b="1" dirty="0">
                <a:latin typeface="Times New Roman" pitchFamily="18" charset="0"/>
                <a:cs typeface="Times New Roman" pitchFamily="18" charset="0"/>
              </a:rPr>
              <a:t>(ii) Logic Error: Deals with incorrect data fields, out of range terms invalid combinations.</a:t>
            </a:r>
          </a:p>
          <a:p>
            <a:pPr marL="45720" indent="0" algn="just">
              <a:buNone/>
            </a:pPr>
            <a:endParaRPr lang="en-US" b="1" dirty="0">
              <a:latin typeface="Times New Roman" pitchFamily="18" charset="0"/>
              <a:cs typeface="Times New Roman" pitchFamily="18" charset="0"/>
            </a:endParaRPr>
          </a:p>
          <a:p>
            <a:pPr marL="45720" indent="0" algn="just">
              <a:buNone/>
            </a:pPr>
            <a:r>
              <a:rPr lang="en-US" b="1" dirty="0">
                <a:latin typeface="Times New Roman" pitchFamily="18" charset="0"/>
                <a:cs typeface="Times New Roman" pitchFamily="18" charset="0"/>
              </a:rPr>
              <a:t>Fault: Fault is a condition that causes a system to fail in performing required function. Fault is the basic reason of software malfunction.</a:t>
            </a:r>
          </a:p>
          <a:p>
            <a:pPr marL="45720" indent="0" algn="just">
              <a:buNone/>
            </a:pPr>
            <a:r>
              <a:rPr lang="en-US" b="1" dirty="0">
                <a:latin typeface="Times New Roman" pitchFamily="18" charset="0"/>
                <a:cs typeface="Times New Roman" pitchFamily="18" charset="0"/>
              </a:rPr>
              <a:t>We can often find faults without execution of code. They may be found through inspection, compiler diagnostics, design or code reviews or code reading.</a:t>
            </a:r>
          </a:p>
        </p:txBody>
      </p:sp>
    </p:spTree>
    <p:extLst>
      <p:ext uri="{BB962C8B-B14F-4D97-AF65-F5344CB8AC3E}">
        <p14:creationId xmlns:p14="http://schemas.microsoft.com/office/powerpoint/2010/main" val="1003781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914400"/>
          </a:xfrm>
        </p:spPr>
        <p:txBody>
          <a:bodyPr>
            <a:normAutofit/>
          </a:bodyPr>
          <a:lstStyle/>
          <a:p>
            <a:r>
              <a:rPr lang="en-US" b="1" dirty="0">
                <a:latin typeface="Times New Roman" pitchFamily="18" charset="0"/>
                <a:cs typeface="Times New Roman" pitchFamily="18" charset="0"/>
              </a:rPr>
              <a:t>Basic Definitions:</a:t>
            </a:r>
          </a:p>
        </p:txBody>
      </p:sp>
      <p:sp>
        <p:nvSpPr>
          <p:cNvPr id="3" name="Content Placeholder 2"/>
          <p:cNvSpPr>
            <a:spLocks noGrp="1"/>
          </p:cNvSpPr>
          <p:nvPr>
            <p:ph idx="1"/>
          </p:nvPr>
        </p:nvSpPr>
        <p:spPr>
          <a:xfrm>
            <a:off x="152400" y="1371600"/>
            <a:ext cx="8763000" cy="5410200"/>
          </a:xfrm>
        </p:spPr>
        <p:txBody>
          <a:bodyPr>
            <a:normAutofit fontScale="92500" lnSpcReduction="10000"/>
          </a:bodyPr>
          <a:lstStyle/>
          <a:p>
            <a:pPr algn="just">
              <a:buFont typeface="Wingdings" pitchFamily="2" charset="2"/>
              <a:buChar char="§"/>
            </a:pP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Bug:  When developers make mistake in coding, we call them bugs.</a:t>
            </a:r>
          </a:p>
          <a:p>
            <a:pPr marL="45720" indent="0" algn="just">
              <a:buNone/>
            </a:pPr>
            <a:endParaRPr lang="en-US" sz="2400" dirty="0">
              <a:latin typeface="Times New Roman" pitchFamily="18" charset="0"/>
              <a:cs typeface="Times New Roman" pitchFamily="18" charset="0"/>
            </a:endParaRPr>
          </a:p>
          <a:p>
            <a:pPr algn="just">
              <a:buFont typeface="Wingdings" pitchFamily="2" charset="2"/>
              <a:buChar char="§"/>
            </a:pPr>
            <a:r>
              <a:rPr lang="en-US" sz="2400" dirty="0">
                <a:latin typeface="Times New Roman" pitchFamily="18" charset="0"/>
                <a:cs typeface="Times New Roman" pitchFamily="18" charset="0"/>
              </a:rPr>
              <a:t> Failure: Failure is the inability of the software to perform its required function, according to its specification. A failure occurs when fault executes. A failure is produced only when there is fault in the system.</a:t>
            </a:r>
          </a:p>
          <a:p>
            <a:pPr marL="45720" indent="0" algn="just">
              <a:buNone/>
            </a:pP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Defect: A defect can occur both due to incorrect implementation of the code and due to unmet customer requirements or specifications.</a:t>
            </a:r>
          </a:p>
          <a:p>
            <a:pPr marL="45720" indent="0" algn="just">
              <a:buNone/>
            </a:pPr>
            <a:r>
              <a:rPr lang="en-US" sz="2400" b="1" dirty="0">
                <a:latin typeface="Times New Roman" pitchFamily="18" charset="0"/>
                <a:cs typeface="Times New Roman" pitchFamily="18" charset="0"/>
              </a:rPr>
              <a:t>It can include:</a:t>
            </a:r>
          </a:p>
          <a:p>
            <a:pPr lvl="1" algn="just"/>
            <a:r>
              <a:rPr lang="en-US" sz="2200" b="1" dirty="0">
                <a:latin typeface="Times New Roman" pitchFamily="18" charset="0"/>
                <a:cs typeface="Times New Roman" pitchFamily="18" charset="0"/>
              </a:rPr>
              <a:t>Code-related issues</a:t>
            </a:r>
            <a:r>
              <a:rPr lang="en-US" sz="2200" dirty="0">
                <a:latin typeface="Times New Roman" pitchFamily="18" charset="0"/>
                <a:cs typeface="Times New Roman" pitchFamily="18" charset="0"/>
              </a:rPr>
              <a:t>: Bugs or faults in the software code that cause incorrect behavior.</a:t>
            </a:r>
          </a:p>
          <a:p>
            <a:pPr lvl="1" algn="just"/>
            <a:r>
              <a:rPr lang="en-US" sz="2200" b="1" dirty="0">
                <a:latin typeface="Times New Roman" pitchFamily="18" charset="0"/>
                <a:cs typeface="Times New Roman" pitchFamily="18" charset="0"/>
              </a:rPr>
              <a:t>Requirement-related issues</a:t>
            </a:r>
            <a:r>
              <a:rPr lang="en-US" sz="2200" dirty="0">
                <a:latin typeface="Times New Roman" pitchFamily="18" charset="0"/>
                <a:cs typeface="Times New Roman" pitchFamily="18" charset="0"/>
              </a:rPr>
              <a:t>: When the software does not meet the specified or expected requirements of the customer, leading to a gap in functionality or performance.</a:t>
            </a:r>
          </a:p>
          <a:p>
            <a:pPr marL="45720" indent="0" algn="just">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546023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914400"/>
          </a:xfrm>
        </p:spPr>
        <p:txBody>
          <a:bodyPr>
            <a:normAutofit/>
          </a:bodyPr>
          <a:lstStyle/>
          <a:p>
            <a:r>
              <a:rPr lang="en-US" b="1" dirty="0">
                <a:latin typeface="Times New Roman" pitchFamily="18" charset="0"/>
                <a:cs typeface="Times New Roman" pitchFamily="18" charset="0"/>
              </a:rPr>
              <a:t>Basic Definitions:</a:t>
            </a:r>
          </a:p>
        </p:txBody>
      </p:sp>
      <p:sp>
        <p:nvSpPr>
          <p:cNvPr id="3" name="Content Placeholder 2"/>
          <p:cNvSpPr>
            <a:spLocks noGrp="1"/>
          </p:cNvSpPr>
          <p:nvPr>
            <p:ph idx="1"/>
          </p:nvPr>
        </p:nvSpPr>
        <p:spPr>
          <a:xfrm>
            <a:off x="304800" y="1371600"/>
            <a:ext cx="8458200" cy="5181600"/>
          </a:xfrm>
        </p:spPr>
        <p:txBody>
          <a:bodyPr>
            <a:normAutofit/>
          </a:bodyPr>
          <a:lstStyle/>
          <a:p>
            <a:pPr marL="45720" indent="0" algn="just">
              <a:buNone/>
            </a:pPr>
            <a:r>
              <a:rPr lang="en-US" sz="2400" b="1" dirty="0">
                <a:latin typeface="Times New Roman" pitchFamily="18" charset="0"/>
                <a:cs typeface="Times New Roman" pitchFamily="18" charset="0"/>
              </a:rPr>
              <a:t>Test Plan: </a:t>
            </a:r>
            <a:r>
              <a:rPr lang="en-US" sz="2400" dirty="0">
                <a:latin typeface="Times New Roman" pitchFamily="18" charset="0"/>
                <a:cs typeface="Times New Roman" pitchFamily="18" charset="0"/>
              </a:rPr>
              <a:t>A test plan is a high-level document that outlines the strategy, objectives, scope, approach, and resources required for testing. </a:t>
            </a:r>
          </a:p>
          <a:p>
            <a:pPr marL="45720" indent="0" algn="just">
              <a:buNone/>
            </a:pPr>
            <a:r>
              <a:rPr lang="en-US" sz="2400" b="1" dirty="0">
                <a:latin typeface="Times New Roman" pitchFamily="18" charset="0"/>
                <a:cs typeface="Times New Roman" pitchFamily="18" charset="0"/>
              </a:rPr>
              <a:t>It includes:</a:t>
            </a:r>
          </a:p>
          <a:p>
            <a:pPr algn="just"/>
            <a:r>
              <a:rPr lang="en-US" sz="2400" dirty="0">
                <a:latin typeface="Times New Roman" pitchFamily="18" charset="0"/>
                <a:cs typeface="Times New Roman" pitchFamily="18" charset="0"/>
              </a:rPr>
              <a:t> Test objectives and scope</a:t>
            </a:r>
          </a:p>
          <a:p>
            <a:pPr algn="just"/>
            <a:r>
              <a:rPr lang="en-US" sz="2400" dirty="0">
                <a:latin typeface="Times New Roman" pitchFamily="18" charset="0"/>
                <a:cs typeface="Times New Roman" pitchFamily="18" charset="0"/>
              </a:rPr>
              <a:t> Testing approach (e.g., manual or automated)</a:t>
            </a:r>
          </a:p>
          <a:p>
            <a:pPr algn="just"/>
            <a:r>
              <a:rPr lang="en-US" sz="2400" dirty="0">
                <a:latin typeface="Times New Roman" pitchFamily="18" charset="0"/>
                <a:cs typeface="Times New Roman" pitchFamily="18" charset="0"/>
              </a:rPr>
              <a:t> Testing tools and environment details</a:t>
            </a:r>
          </a:p>
          <a:p>
            <a:pPr algn="just"/>
            <a:r>
              <a:rPr lang="en-US" sz="2400" dirty="0">
                <a:latin typeface="Times New Roman" pitchFamily="18" charset="0"/>
                <a:cs typeface="Times New Roman" pitchFamily="18" charset="0"/>
              </a:rPr>
              <a:t> Test deliverables</a:t>
            </a:r>
          </a:p>
          <a:p>
            <a:pPr algn="just"/>
            <a:r>
              <a:rPr lang="en-US" sz="2400" dirty="0">
                <a:latin typeface="Times New Roman" pitchFamily="18" charset="0"/>
                <a:cs typeface="Times New Roman" pitchFamily="18" charset="0"/>
              </a:rPr>
              <a:t> Roles and responsibilities</a:t>
            </a:r>
          </a:p>
          <a:p>
            <a:pPr algn="just"/>
            <a:r>
              <a:rPr lang="en-US" sz="2400" dirty="0">
                <a:latin typeface="Times New Roman" pitchFamily="18" charset="0"/>
                <a:cs typeface="Times New Roman" pitchFamily="18" charset="0"/>
              </a:rPr>
              <a:t> Schedules and timelines</a:t>
            </a:r>
          </a:p>
          <a:p>
            <a:pPr marL="45720" indent="0" algn="just">
              <a:buNone/>
            </a:pPr>
            <a:r>
              <a:rPr lang="en-US" sz="2400" dirty="0">
                <a:latin typeface="Times New Roman" pitchFamily="18" charset="0"/>
                <a:cs typeface="Times New Roman" pitchFamily="18" charset="0"/>
              </a:rPr>
              <a:t>The test plan serves as a roadmap for the entire testing process.</a:t>
            </a:r>
          </a:p>
        </p:txBody>
      </p:sp>
    </p:spTree>
    <p:extLst>
      <p:ext uri="{BB962C8B-B14F-4D97-AF65-F5344CB8AC3E}">
        <p14:creationId xmlns:p14="http://schemas.microsoft.com/office/powerpoint/2010/main" val="3332797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914400"/>
          </a:xfrm>
        </p:spPr>
        <p:txBody>
          <a:bodyPr>
            <a:normAutofit/>
          </a:bodyPr>
          <a:lstStyle/>
          <a:p>
            <a:r>
              <a:rPr lang="en-US" b="1" dirty="0">
                <a:latin typeface="Times New Roman" pitchFamily="18" charset="0"/>
                <a:cs typeface="Times New Roman" pitchFamily="18" charset="0"/>
              </a:rPr>
              <a:t>Basic Definitions:</a:t>
            </a:r>
          </a:p>
        </p:txBody>
      </p:sp>
      <p:sp>
        <p:nvSpPr>
          <p:cNvPr id="3" name="Content Placeholder 2"/>
          <p:cNvSpPr>
            <a:spLocks noGrp="1"/>
          </p:cNvSpPr>
          <p:nvPr>
            <p:ph idx="1"/>
          </p:nvPr>
        </p:nvSpPr>
        <p:spPr>
          <a:xfrm>
            <a:off x="304800" y="1524000"/>
            <a:ext cx="8458200" cy="5181600"/>
          </a:xfrm>
        </p:spPr>
        <p:txBody>
          <a:bodyPr>
            <a:normAutofit/>
          </a:bodyPr>
          <a:lstStyle/>
          <a:p>
            <a:pPr marL="45720" indent="0" algn="just">
              <a:buNone/>
            </a:pPr>
            <a:r>
              <a:rPr lang="en-US" sz="2400" b="1" dirty="0">
                <a:latin typeface="Times New Roman" pitchFamily="18" charset="0"/>
                <a:cs typeface="Times New Roman" pitchFamily="18" charset="0"/>
              </a:rPr>
              <a:t>Test Case: </a:t>
            </a:r>
            <a:r>
              <a:rPr lang="en-US" sz="2400" dirty="0">
                <a:latin typeface="Times New Roman" pitchFamily="18" charset="0"/>
                <a:cs typeface="Times New Roman" pitchFamily="18" charset="0"/>
              </a:rPr>
              <a:t>A test case is a detailed set of instructions used to verify a specific aspect of the software's functionality. </a:t>
            </a:r>
          </a:p>
          <a:p>
            <a:pPr marL="45720" indent="0" algn="just">
              <a:buNone/>
            </a:pPr>
            <a:r>
              <a:rPr lang="en-US" sz="2400" dirty="0">
                <a:latin typeface="Times New Roman" pitchFamily="18" charset="0"/>
                <a:cs typeface="Times New Roman" pitchFamily="18" charset="0"/>
              </a:rPr>
              <a:t>It includes:</a:t>
            </a:r>
          </a:p>
          <a:p>
            <a:pPr algn="just"/>
            <a:r>
              <a:rPr lang="en-US" sz="2400" dirty="0">
                <a:latin typeface="Times New Roman" pitchFamily="18" charset="0"/>
                <a:cs typeface="Times New Roman" pitchFamily="18" charset="0"/>
              </a:rPr>
              <a:t> Test case ID</a:t>
            </a:r>
          </a:p>
          <a:p>
            <a:pPr algn="just"/>
            <a:r>
              <a:rPr lang="en-US" sz="2400" dirty="0">
                <a:latin typeface="Times New Roman" pitchFamily="18" charset="0"/>
                <a:cs typeface="Times New Roman" pitchFamily="18" charset="0"/>
              </a:rPr>
              <a:t> Test scenario or functionality being tested</a:t>
            </a:r>
          </a:p>
          <a:p>
            <a:pPr algn="just"/>
            <a:r>
              <a:rPr lang="en-US" sz="2400" dirty="0">
                <a:latin typeface="Times New Roman" pitchFamily="18" charset="0"/>
                <a:cs typeface="Times New Roman" pitchFamily="18" charset="0"/>
              </a:rPr>
              <a:t> Input data</a:t>
            </a:r>
          </a:p>
          <a:p>
            <a:pPr algn="just"/>
            <a:r>
              <a:rPr lang="en-US" sz="2400" dirty="0">
                <a:latin typeface="Times New Roman" pitchFamily="18" charset="0"/>
                <a:cs typeface="Times New Roman" pitchFamily="18" charset="0"/>
              </a:rPr>
              <a:t> Expected results</a:t>
            </a:r>
          </a:p>
          <a:p>
            <a:pPr algn="just"/>
            <a:r>
              <a:rPr lang="en-US" sz="2400" dirty="0">
                <a:latin typeface="Times New Roman" pitchFamily="18" charset="0"/>
                <a:cs typeface="Times New Roman" pitchFamily="18" charset="0"/>
              </a:rPr>
              <a:t> Actual results</a:t>
            </a:r>
          </a:p>
          <a:p>
            <a:pPr algn="just"/>
            <a:r>
              <a:rPr lang="en-US" sz="2400" dirty="0">
                <a:latin typeface="Times New Roman" pitchFamily="18" charset="0"/>
                <a:cs typeface="Times New Roman" pitchFamily="18" charset="0"/>
              </a:rPr>
              <a:t> Pass/Fail status </a:t>
            </a:r>
          </a:p>
          <a:p>
            <a:pPr marL="45720" indent="0" algn="just">
              <a:buNone/>
            </a:pPr>
            <a:r>
              <a:rPr lang="en-US" sz="2400" dirty="0">
                <a:latin typeface="Times New Roman" pitchFamily="18" charset="0"/>
                <a:cs typeface="Times New Roman" pitchFamily="18" charset="0"/>
              </a:rPr>
              <a:t>Test cases are designed to check if a particular feature or function works as expected under specific conditions.</a:t>
            </a:r>
          </a:p>
          <a:p>
            <a:pPr marL="45720" indent="0" algn="just">
              <a:buNone/>
            </a:pP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1308833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914400"/>
          </a:xfrm>
        </p:spPr>
        <p:txBody>
          <a:bodyPr>
            <a:normAutofit/>
          </a:bodyPr>
          <a:lstStyle/>
          <a:p>
            <a:r>
              <a:rPr lang="en-US" b="1" dirty="0">
                <a:latin typeface="Times New Roman" pitchFamily="18" charset="0"/>
                <a:cs typeface="Times New Roman" pitchFamily="18" charset="0"/>
              </a:rPr>
              <a:t>Basic Definitions:</a:t>
            </a:r>
          </a:p>
        </p:txBody>
      </p:sp>
      <p:sp>
        <p:nvSpPr>
          <p:cNvPr id="3" name="Content Placeholder 2"/>
          <p:cNvSpPr>
            <a:spLocks noGrp="1"/>
          </p:cNvSpPr>
          <p:nvPr>
            <p:ph idx="1"/>
          </p:nvPr>
        </p:nvSpPr>
        <p:spPr>
          <a:xfrm>
            <a:off x="152400" y="1371600"/>
            <a:ext cx="8839200" cy="5257800"/>
          </a:xfrm>
        </p:spPr>
        <p:txBody>
          <a:bodyPr>
            <a:noAutofit/>
          </a:bodyPr>
          <a:lstStyle/>
          <a:p>
            <a:pPr marL="45720" indent="0" algn="just">
              <a:buNone/>
            </a:pPr>
            <a:r>
              <a:rPr lang="en-US" sz="2400" b="1" dirty="0">
                <a:latin typeface="Times New Roman" pitchFamily="18" charset="0"/>
                <a:cs typeface="Times New Roman" pitchFamily="18" charset="0"/>
              </a:rPr>
              <a:t>Test Suite: The set of test cases is called a test suite.</a:t>
            </a:r>
          </a:p>
          <a:p>
            <a:pPr marL="45720" indent="0" algn="just">
              <a:buNone/>
            </a:pPr>
            <a:r>
              <a:rPr lang="en-US" sz="2400" b="1" dirty="0">
                <a:latin typeface="Times New Roman" pitchFamily="18" charset="0"/>
                <a:cs typeface="Times New Roman" pitchFamily="18" charset="0"/>
              </a:rPr>
              <a:t>The test suite contains multiple test cases related to a specific module or feature.</a:t>
            </a:r>
          </a:p>
          <a:p>
            <a:pPr marL="45720" indent="0" algn="just">
              <a:buNone/>
            </a:pPr>
            <a:endParaRPr lang="en-US" sz="2400" b="1" dirty="0">
              <a:latin typeface="Times New Roman" pitchFamily="18" charset="0"/>
              <a:cs typeface="Times New Roman" pitchFamily="18" charset="0"/>
            </a:endParaRPr>
          </a:p>
          <a:p>
            <a:pPr marL="45720" indent="0" algn="just">
              <a:buNone/>
            </a:pPr>
            <a:r>
              <a:rPr lang="en-US" sz="2400" b="1" dirty="0">
                <a:latin typeface="Times New Roman" pitchFamily="18" charset="0"/>
                <a:cs typeface="Times New Roman" pitchFamily="18" charset="0"/>
              </a:rPr>
              <a:t>Example of Test Suite:</a:t>
            </a:r>
          </a:p>
          <a:p>
            <a:pPr marL="45720" indent="0" algn="just">
              <a:buNone/>
            </a:pPr>
            <a:r>
              <a:rPr lang="en-US" sz="2400" dirty="0">
                <a:latin typeface="Times New Roman" pitchFamily="18" charset="0"/>
                <a:cs typeface="Times New Roman" pitchFamily="18" charset="0"/>
              </a:rPr>
              <a:t>A </a:t>
            </a:r>
            <a:r>
              <a:rPr lang="en-US" sz="2400" b="1" dirty="0">
                <a:latin typeface="Times New Roman" pitchFamily="18" charset="0"/>
                <a:cs typeface="Times New Roman" pitchFamily="18" charset="0"/>
              </a:rPr>
              <a:t>Login Feature Test Suite</a:t>
            </a:r>
            <a:r>
              <a:rPr lang="en-US" sz="2400" dirty="0">
                <a:latin typeface="Times New Roman" pitchFamily="18" charset="0"/>
                <a:cs typeface="Times New Roman" pitchFamily="18" charset="0"/>
              </a:rPr>
              <a:t> could contain the following test cases:</a:t>
            </a:r>
          </a:p>
          <a:p>
            <a:pPr lvl="1" algn="just"/>
            <a:r>
              <a:rPr lang="en-US" sz="2400" b="1" dirty="0">
                <a:latin typeface="Times New Roman" pitchFamily="18" charset="0"/>
                <a:cs typeface="Times New Roman" pitchFamily="18" charset="0"/>
              </a:rPr>
              <a:t> Test Case 1</a:t>
            </a:r>
            <a:r>
              <a:rPr lang="en-US" sz="2400" dirty="0">
                <a:latin typeface="Times New Roman" pitchFamily="18" charset="0"/>
                <a:cs typeface="Times New Roman" pitchFamily="18" charset="0"/>
              </a:rPr>
              <a:t>: Valid login with correct username and password.</a:t>
            </a:r>
          </a:p>
          <a:p>
            <a:pPr lvl="1" algn="just"/>
            <a:r>
              <a:rPr lang="en-US" sz="2400" b="1" dirty="0">
                <a:latin typeface="Times New Roman" pitchFamily="18" charset="0"/>
                <a:cs typeface="Times New Roman" pitchFamily="18" charset="0"/>
              </a:rPr>
              <a:t> Test Case 2</a:t>
            </a:r>
            <a:r>
              <a:rPr lang="en-US" sz="2400" dirty="0">
                <a:latin typeface="Times New Roman" pitchFamily="18" charset="0"/>
                <a:cs typeface="Times New Roman" pitchFamily="18" charset="0"/>
              </a:rPr>
              <a:t>: Invalid login with incorrect username.</a:t>
            </a:r>
          </a:p>
          <a:p>
            <a:pPr lvl="1" algn="just"/>
            <a:r>
              <a:rPr lang="en-US" sz="2400" b="1" dirty="0">
                <a:latin typeface="Times New Roman" pitchFamily="18" charset="0"/>
                <a:cs typeface="Times New Roman" pitchFamily="18" charset="0"/>
              </a:rPr>
              <a:t> Test Case 3</a:t>
            </a:r>
            <a:r>
              <a:rPr lang="en-US" sz="2400" dirty="0">
                <a:latin typeface="Times New Roman" pitchFamily="18" charset="0"/>
                <a:cs typeface="Times New Roman" pitchFamily="18" charset="0"/>
              </a:rPr>
              <a:t>: Invalid login with incorrect password.</a:t>
            </a:r>
          </a:p>
          <a:p>
            <a:pPr lvl="1" algn="just"/>
            <a:r>
              <a:rPr lang="en-US" sz="2400" b="1" dirty="0">
                <a:latin typeface="Times New Roman" pitchFamily="18" charset="0"/>
                <a:cs typeface="Times New Roman" pitchFamily="18" charset="0"/>
              </a:rPr>
              <a:t> Test Case 4</a:t>
            </a:r>
            <a:r>
              <a:rPr lang="en-US" sz="2400" dirty="0">
                <a:latin typeface="Times New Roman" pitchFamily="18" charset="0"/>
                <a:cs typeface="Times New Roman" pitchFamily="18" charset="0"/>
              </a:rPr>
              <a:t>: Login attempt with empty fields.</a:t>
            </a:r>
          </a:p>
          <a:p>
            <a:pPr lvl="1" algn="just"/>
            <a:r>
              <a:rPr lang="en-US" sz="2400" b="1" dirty="0">
                <a:latin typeface="Times New Roman" pitchFamily="18" charset="0"/>
                <a:cs typeface="Times New Roman" pitchFamily="18" charset="0"/>
              </a:rPr>
              <a:t> Test Case 5</a:t>
            </a:r>
            <a:r>
              <a:rPr lang="en-US" sz="2400" dirty="0">
                <a:latin typeface="Times New Roman" pitchFamily="18" charset="0"/>
                <a:cs typeface="Times New Roman" pitchFamily="18" charset="0"/>
              </a:rPr>
              <a:t>: Login with special characters in username/password.</a:t>
            </a:r>
          </a:p>
          <a:p>
            <a:pPr marL="45720" indent="0" algn="just">
              <a:buNone/>
            </a:pP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3741305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914400"/>
          </a:xfrm>
        </p:spPr>
        <p:txBody>
          <a:bodyPr>
            <a:normAutofit/>
          </a:bodyPr>
          <a:lstStyle/>
          <a:p>
            <a:r>
              <a:rPr lang="en-US" b="1" dirty="0">
                <a:latin typeface="Times New Roman" pitchFamily="18" charset="0"/>
                <a:cs typeface="Times New Roman" pitchFamily="18" charset="0"/>
              </a:rPr>
              <a:t>Basic Definitions:</a:t>
            </a:r>
          </a:p>
        </p:txBody>
      </p:sp>
      <p:sp>
        <p:nvSpPr>
          <p:cNvPr id="3" name="Content Placeholder 2"/>
          <p:cNvSpPr>
            <a:spLocks noGrp="1"/>
          </p:cNvSpPr>
          <p:nvPr>
            <p:ph idx="1"/>
          </p:nvPr>
        </p:nvSpPr>
        <p:spPr>
          <a:xfrm>
            <a:off x="304800" y="1524000"/>
            <a:ext cx="8458200" cy="5181600"/>
          </a:xfrm>
        </p:spPr>
        <p:txBody>
          <a:bodyPr>
            <a:normAutofit lnSpcReduction="10000"/>
          </a:bodyPr>
          <a:lstStyle/>
          <a:p>
            <a:pPr marL="45720" indent="0" algn="just">
              <a:buNone/>
            </a:pPr>
            <a:r>
              <a:rPr lang="en-US" sz="2400" b="1" dirty="0">
                <a:latin typeface="Times New Roman" pitchFamily="18" charset="0"/>
                <a:cs typeface="Times New Roman" pitchFamily="18" charset="0"/>
              </a:rPr>
              <a:t>Test Script: A test script is the detailed implementation of a test case in code, defining the steps and logic to execute the test automatically.</a:t>
            </a:r>
          </a:p>
          <a:p>
            <a:pPr marL="45720" indent="0" algn="just">
              <a:buNone/>
            </a:pPr>
            <a:r>
              <a:rPr lang="en-US" sz="2400" b="1" dirty="0">
                <a:latin typeface="Times New Roman" pitchFamily="18" charset="0"/>
                <a:cs typeface="Times New Roman" pitchFamily="18" charset="0"/>
              </a:rPr>
              <a:t>The most important points:</a:t>
            </a:r>
          </a:p>
          <a:p>
            <a:pPr algn="just"/>
            <a:r>
              <a:rPr lang="en-US" sz="2400" b="1" dirty="0">
                <a:latin typeface="Times New Roman" pitchFamily="18" charset="0"/>
                <a:cs typeface="Times New Roman" pitchFamily="18" charset="0"/>
              </a:rPr>
              <a:t> Automation</a:t>
            </a:r>
            <a:r>
              <a:rPr lang="en-US" sz="2400" dirty="0">
                <a:latin typeface="Times New Roman" pitchFamily="18" charset="0"/>
                <a:cs typeface="Times New Roman" pitchFamily="18" charset="0"/>
              </a:rPr>
              <a:t>: Reduces manual effort and speeds up the testing process.</a:t>
            </a:r>
          </a:p>
          <a:p>
            <a:pPr algn="just"/>
            <a:r>
              <a:rPr lang="en-US" sz="2400" b="1" dirty="0">
                <a:latin typeface="Times New Roman" pitchFamily="18" charset="0"/>
                <a:cs typeface="Times New Roman" pitchFamily="18" charset="0"/>
              </a:rPr>
              <a:t> Assertions</a:t>
            </a:r>
            <a:r>
              <a:rPr lang="en-US" sz="2400" dirty="0">
                <a:latin typeface="Times New Roman" pitchFamily="18" charset="0"/>
                <a:cs typeface="Times New Roman" pitchFamily="18" charset="0"/>
              </a:rPr>
              <a:t>: Verifies that the application behaves as expected, determining test success or failure.</a:t>
            </a:r>
          </a:p>
          <a:p>
            <a:pPr algn="just"/>
            <a:r>
              <a:rPr lang="en-US" sz="2400" b="1" dirty="0">
                <a:latin typeface="Times New Roman" pitchFamily="18" charset="0"/>
                <a:cs typeface="Times New Roman" pitchFamily="18" charset="0"/>
              </a:rPr>
              <a:t> Reusability</a:t>
            </a:r>
            <a:r>
              <a:rPr lang="en-US" sz="2400" dirty="0">
                <a:latin typeface="Times New Roman" pitchFamily="18" charset="0"/>
                <a:cs typeface="Times New Roman" pitchFamily="18" charset="0"/>
              </a:rPr>
              <a:t>: Allows test scripts to be reused in different test cycles and environments, saving time and effort.</a:t>
            </a:r>
          </a:p>
          <a:p>
            <a:pPr algn="just"/>
            <a:r>
              <a:rPr lang="en-US" sz="2400" b="1" dirty="0">
                <a:latin typeface="Times New Roman" pitchFamily="18" charset="0"/>
                <a:cs typeface="Times New Roman" pitchFamily="18" charset="0"/>
              </a:rPr>
              <a:t> Cross-Platform Support</a:t>
            </a:r>
            <a:r>
              <a:rPr lang="en-US" sz="2400" dirty="0">
                <a:latin typeface="Times New Roman" pitchFamily="18" charset="0"/>
                <a:cs typeface="Times New Roman" pitchFamily="18" charset="0"/>
              </a:rPr>
              <a:t>: Ensures that tests can be executed across multiple browsers and platforms, increasing test coverage.</a:t>
            </a:r>
          </a:p>
          <a:p>
            <a:pPr marL="45720" indent="0" algn="just">
              <a:buNone/>
            </a:pPr>
            <a:endParaRPr lang="en-US" sz="2400" b="1" dirty="0">
              <a:latin typeface="Times New Roman" pitchFamily="18" charset="0"/>
              <a:cs typeface="Times New Roman" pitchFamily="18" charset="0"/>
            </a:endParaRPr>
          </a:p>
          <a:p>
            <a:pPr marL="45720" indent="0" algn="just">
              <a:buNone/>
            </a:pP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2547268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097"/>
            <a:ext cx="9144000" cy="1154097"/>
          </a:xfrm>
        </p:spPr>
        <p:txBody>
          <a:bodyPr>
            <a:normAutofit/>
          </a:bodyPr>
          <a:lstStyle/>
          <a:p>
            <a:r>
              <a:rPr lang="en-US" sz="4400" b="1" dirty="0">
                <a:latin typeface="Times New Roman" pitchFamily="18" charset="0"/>
                <a:cs typeface="Times New Roman" pitchFamily="18" charset="0"/>
              </a:rPr>
              <a:t> Software Testing Principles</a:t>
            </a:r>
          </a:p>
        </p:txBody>
      </p:sp>
      <p:sp>
        <p:nvSpPr>
          <p:cNvPr id="3" name="Content Placeholder 2"/>
          <p:cNvSpPr>
            <a:spLocks noGrp="1"/>
          </p:cNvSpPr>
          <p:nvPr>
            <p:ph idx="1"/>
          </p:nvPr>
        </p:nvSpPr>
        <p:spPr>
          <a:xfrm>
            <a:off x="0" y="1600201"/>
            <a:ext cx="9144000" cy="5638799"/>
          </a:xfrm>
        </p:spPr>
        <p:txBody>
          <a:bodyPr>
            <a:normAutofit/>
          </a:bodyPr>
          <a:lstStyle/>
          <a:p>
            <a:pPr marL="45720" indent="0" algn="just">
              <a:buNone/>
            </a:pPr>
            <a:r>
              <a:rPr lang="en-US" sz="2800" b="1" dirty="0">
                <a:latin typeface="Times New Roman" pitchFamily="18" charset="0"/>
                <a:cs typeface="Times New Roman" pitchFamily="18" charset="0"/>
              </a:rPr>
              <a:t>Principles of Software Testing</a:t>
            </a:r>
            <a:r>
              <a:rPr lang="en-US" sz="2800" dirty="0">
                <a:latin typeface="Times New Roman" pitchFamily="18" charset="0"/>
                <a:cs typeface="Times New Roman" pitchFamily="18" charset="0"/>
              </a:rPr>
              <a:t>:</a:t>
            </a:r>
          </a:p>
          <a:p>
            <a:pPr algn="just"/>
            <a:r>
              <a:rPr lang="en-US" sz="2800" b="1" dirty="0">
                <a:latin typeface="Times New Roman" pitchFamily="18" charset="0"/>
                <a:cs typeface="Times New Roman" pitchFamily="18" charset="0"/>
              </a:rPr>
              <a:t> Find Bugs</a:t>
            </a:r>
            <a:r>
              <a:rPr lang="en-US" sz="2800" dirty="0">
                <a:latin typeface="Times New Roman" pitchFamily="18" charset="0"/>
                <a:cs typeface="Times New Roman" pitchFamily="18" charset="0"/>
              </a:rPr>
              <a:t> – Testing shows defects.</a:t>
            </a:r>
          </a:p>
          <a:p>
            <a:pPr algn="just"/>
            <a:r>
              <a:rPr lang="en-US" sz="2800" b="1" dirty="0">
                <a:latin typeface="Times New Roman" pitchFamily="18" charset="0"/>
                <a:cs typeface="Times New Roman" pitchFamily="18" charset="0"/>
              </a:rPr>
              <a:t> Can't Test Everything</a:t>
            </a:r>
            <a:r>
              <a:rPr lang="en-US" sz="2800" dirty="0">
                <a:latin typeface="Times New Roman" pitchFamily="18" charset="0"/>
                <a:cs typeface="Times New Roman" pitchFamily="18" charset="0"/>
              </a:rPr>
              <a:t> – Complete testing is impossible.</a:t>
            </a:r>
          </a:p>
          <a:p>
            <a:pPr algn="just"/>
            <a:r>
              <a:rPr lang="en-US" sz="2800" b="1" dirty="0">
                <a:latin typeface="Times New Roman" pitchFamily="18" charset="0"/>
                <a:cs typeface="Times New Roman" pitchFamily="18" charset="0"/>
              </a:rPr>
              <a:t> Start Early</a:t>
            </a:r>
            <a:r>
              <a:rPr lang="en-US" sz="2800" dirty="0">
                <a:latin typeface="Times New Roman" pitchFamily="18" charset="0"/>
                <a:cs typeface="Times New Roman" pitchFamily="18" charset="0"/>
              </a:rPr>
              <a:t> – Test early in the development process.</a:t>
            </a:r>
          </a:p>
          <a:p>
            <a:pPr algn="just"/>
            <a:r>
              <a:rPr lang="en-US" sz="2800" b="1" dirty="0">
                <a:latin typeface="Times New Roman" pitchFamily="18" charset="0"/>
                <a:cs typeface="Times New Roman" pitchFamily="18" charset="0"/>
              </a:rPr>
              <a:t> Bug Hotspots</a:t>
            </a:r>
            <a:r>
              <a:rPr lang="en-US" sz="2800" dirty="0">
                <a:latin typeface="Times New Roman" pitchFamily="18" charset="0"/>
                <a:cs typeface="Times New Roman" pitchFamily="18" charset="0"/>
              </a:rPr>
              <a:t> – Bugs are concentrated in specific areas.</a:t>
            </a:r>
          </a:p>
          <a:p>
            <a:pPr algn="just"/>
            <a:r>
              <a:rPr lang="en-US" sz="2800" b="1" dirty="0">
                <a:latin typeface="Times New Roman" pitchFamily="18" charset="0"/>
                <a:cs typeface="Times New Roman" pitchFamily="18" charset="0"/>
              </a:rPr>
              <a:t> Update Tests</a:t>
            </a:r>
            <a:r>
              <a:rPr lang="en-US" sz="2800" dirty="0">
                <a:latin typeface="Times New Roman" pitchFamily="18" charset="0"/>
                <a:cs typeface="Times New Roman" pitchFamily="18" charset="0"/>
              </a:rPr>
              <a:t> – Repeating tests won’t find new bugs.</a:t>
            </a:r>
          </a:p>
          <a:p>
            <a:pPr algn="just"/>
            <a:r>
              <a:rPr lang="en-US" sz="2800" b="1" dirty="0">
                <a:latin typeface="Times New Roman" pitchFamily="18" charset="0"/>
                <a:cs typeface="Times New Roman" pitchFamily="18" charset="0"/>
              </a:rPr>
              <a:t> Adapt Testing</a:t>
            </a:r>
            <a:r>
              <a:rPr lang="en-US" sz="2800" dirty="0">
                <a:latin typeface="Times New Roman" pitchFamily="18" charset="0"/>
                <a:cs typeface="Times New Roman" pitchFamily="18" charset="0"/>
              </a:rPr>
              <a:t> – Testing depends on the project context.</a:t>
            </a:r>
          </a:p>
          <a:p>
            <a:pPr algn="just"/>
            <a:r>
              <a:rPr lang="en-US" sz="2800" b="1" dirty="0">
                <a:latin typeface="Times New Roman" pitchFamily="18" charset="0"/>
                <a:cs typeface="Times New Roman" pitchFamily="18" charset="0"/>
              </a:rPr>
              <a:t> Bug-Free ≠ Perfect (Absence of Error Fallacy)</a:t>
            </a:r>
            <a:r>
              <a:rPr lang="en-US" sz="2800" dirty="0">
                <a:latin typeface="Times New Roman" pitchFamily="18" charset="0"/>
                <a:cs typeface="Times New Roman" pitchFamily="18" charset="0"/>
              </a:rPr>
              <a:t> – No bugs doesn’t mean it meets all needs.</a:t>
            </a:r>
          </a:p>
          <a:p>
            <a:pPr algn="just"/>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610103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9067800" cy="1154097"/>
          </a:xfrm>
        </p:spPr>
        <p:txBody>
          <a:bodyPr>
            <a:noAutofit/>
          </a:bodyPr>
          <a:lstStyle/>
          <a:p>
            <a:r>
              <a:rPr lang="en-US" sz="3200" b="1" dirty="0">
                <a:latin typeface="Times New Roman" pitchFamily="18" charset="0"/>
                <a:cs typeface="Times New Roman" pitchFamily="18" charset="0"/>
              </a:rPr>
              <a:t>The Tester’s Role in a Software Development Organization</a:t>
            </a:r>
          </a:p>
        </p:txBody>
      </p:sp>
      <p:sp>
        <p:nvSpPr>
          <p:cNvPr id="3" name="Content Placeholder 2"/>
          <p:cNvSpPr>
            <a:spLocks noGrp="1"/>
          </p:cNvSpPr>
          <p:nvPr>
            <p:ph idx="1"/>
          </p:nvPr>
        </p:nvSpPr>
        <p:spPr>
          <a:xfrm>
            <a:off x="0" y="1295400"/>
            <a:ext cx="9144000" cy="5791201"/>
          </a:xfrm>
        </p:spPr>
        <p:txBody>
          <a:bodyPr>
            <a:normAutofit/>
          </a:bodyPr>
          <a:lstStyle/>
          <a:p>
            <a:pPr marL="45720" indent="0" algn="just">
              <a:buNone/>
            </a:pPr>
            <a:r>
              <a:rPr lang="en-US" sz="2400" b="1" dirty="0">
                <a:latin typeface="Times New Roman" pitchFamily="18" charset="0"/>
                <a:cs typeface="Times New Roman" pitchFamily="18" charset="0"/>
              </a:rPr>
              <a:t>Responsibilities of a Tester:</a:t>
            </a:r>
          </a:p>
          <a:p>
            <a:pPr algn="just"/>
            <a:r>
              <a:rPr lang="en-US" sz="2400" b="1" dirty="0">
                <a:latin typeface="Times New Roman" pitchFamily="18" charset="0"/>
                <a:cs typeface="Times New Roman" pitchFamily="18" charset="0"/>
              </a:rPr>
              <a:t> Test Planning</a:t>
            </a:r>
            <a:r>
              <a:rPr lang="en-US" sz="2400" dirty="0">
                <a:latin typeface="Times New Roman" pitchFamily="18" charset="0"/>
                <a:cs typeface="Times New Roman" pitchFamily="18" charset="0"/>
              </a:rPr>
              <a:t>: Define test strategy, scope, and objectives. Prepare test plans, test cases, and test suites.</a:t>
            </a:r>
          </a:p>
          <a:p>
            <a:pPr algn="just"/>
            <a:r>
              <a:rPr lang="en-US" sz="2400" b="1" dirty="0">
                <a:latin typeface="Times New Roman" pitchFamily="18" charset="0"/>
                <a:cs typeface="Times New Roman" pitchFamily="18" charset="0"/>
              </a:rPr>
              <a:t> Test Design and Execution</a:t>
            </a:r>
            <a:r>
              <a:rPr lang="en-US" sz="2400" dirty="0">
                <a:latin typeface="Times New Roman" pitchFamily="18" charset="0"/>
                <a:cs typeface="Times New Roman" pitchFamily="18" charset="0"/>
              </a:rPr>
              <a:t>: Create test scenarios, execute manual or automated tests, and validate software functionality.</a:t>
            </a:r>
          </a:p>
          <a:p>
            <a:pPr algn="just"/>
            <a:r>
              <a:rPr lang="en-US" sz="2400" b="1" dirty="0">
                <a:latin typeface="Times New Roman" pitchFamily="18" charset="0"/>
                <a:cs typeface="Times New Roman" pitchFamily="18" charset="0"/>
              </a:rPr>
              <a:t> Defect Identification and Reporting</a:t>
            </a:r>
            <a:r>
              <a:rPr lang="en-US" sz="2400" dirty="0">
                <a:latin typeface="Times New Roman" pitchFamily="18" charset="0"/>
                <a:cs typeface="Times New Roman" pitchFamily="18" charset="0"/>
              </a:rPr>
              <a:t>: Detect defects, document issues, and track them for resolution.</a:t>
            </a:r>
          </a:p>
          <a:p>
            <a:pPr algn="just"/>
            <a:r>
              <a:rPr lang="en-US" sz="2400" b="1" dirty="0">
                <a:latin typeface="Times New Roman" pitchFamily="18" charset="0"/>
                <a:cs typeface="Times New Roman" pitchFamily="18" charset="0"/>
              </a:rPr>
              <a:t> Test Reporting</a:t>
            </a:r>
            <a:r>
              <a:rPr lang="en-US" sz="2400" dirty="0">
                <a:latin typeface="Times New Roman" pitchFamily="18" charset="0"/>
                <a:cs typeface="Times New Roman" pitchFamily="18" charset="0"/>
              </a:rPr>
              <a:t>: Provide detailed reports on test results, bug severity, and overall product quality.</a:t>
            </a:r>
          </a:p>
          <a:p>
            <a:pPr algn="just"/>
            <a:r>
              <a:rPr lang="en-US" sz="2400" b="1" dirty="0">
                <a:latin typeface="Times New Roman" pitchFamily="18" charset="0"/>
                <a:cs typeface="Times New Roman" pitchFamily="18" charset="0"/>
              </a:rPr>
              <a:t> Regression Testing</a:t>
            </a:r>
            <a:r>
              <a:rPr lang="en-US" sz="2400" dirty="0">
                <a:latin typeface="Times New Roman" pitchFamily="18" charset="0"/>
                <a:cs typeface="Times New Roman" pitchFamily="18" charset="0"/>
              </a:rPr>
              <a:t>: Ensure new changes don't affect existing functionality.</a:t>
            </a:r>
          </a:p>
          <a:p>
            <a:pPr algn="just"/>
            <a:r>
              <a:rPr lang="en-US" sz="2400" b="1" dirty="0">
                <a:latin typeface="Times New Roman" pitchFamily="18" charset="0"/>
                <a:cs typeface="Times New Roman" pitchFamily="18" charset="0"/>
              </a:rPr>
              <a:t> Test Maintenance</a:t>
            </a:r>
            <a:r>
              <a:rPr lang="en-US" sz="2400" dirty="0">
                <a:latin typeface="Times New Roman" pitchFamily="18" charset="0"/>
                <a:cs typeface="Times New Roman" pitchFamily="18" charset="0"/>
              </a:rPr>
              <a:t>: Update tests based on changes in requirements or functionality.</a:t>
            </a:r>
          </a:p>
          <a:p>
            <a:pPr lvl="1" algn="just">
              <a:buFont typeface="Wingdings" pitchFamily="2" charset="2"/>
              <a:buChar char="§"/>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157949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9067800" cy="1154097"/>
          </a:xfrm>
        </p:spPr>
        <p:txBody>
          <a:bodyPr>
            <a:noAutofit/>
          </a:bodyPr>
          <a:lstStyle/>
          <a:p>
            <a:r>
              <a:rPr lang="en-US" sz="3200" b="1" dirty="0">
                <a:latin typeface="Times New Roman" pitchFamily="18" charset="0"/>
                <a:cs typeface="Times New Roman" pitchFamily="18" charset="0"/>
              </a:rPr>
              <a:t>The Tester’s Role in a Software Development Organization</a:t>
            </a:r>
          </a:p>
        </p:txBody>
      </p:sp>
      <p:sp>
        <p:nvSpPr>
          <p:cNvPr id="3" name="Content Placeholder 2"/>
          <p:cNvSpPr>
            <a:spLocks noGrp="1"/>
          </p:cNvSpPr>
          <p:nvPr>
            <p:ph idx="1"/>
          </p:nvPr>
        </p:nvSpPr>
        <p:spPr>
          <a:xfrm>
            <a:off x="0" y="1295400"/>
            <a:ext cx="9144000" cy="5791201"/>
          </a:xfrm>
        </p:spPr>
        <p:txBody>
          <a:bodyPr>
            <a:normAutofit lnSpcReduction="10000"/>
          </a:bodyPr>
          <a:lstStyle/>
          <a:p>
            <a:pPr marL="320040" lvl="1" indent="0" algn="just">
              <a:buNone/>
            </a:pPr>
            <a:r>
              <a:rPr lang="en-US" sz="2400" b="1" dirty="0">
                <a:latin typeface="Times New Roman" pitchFamily="18" charset="0"/>
                <a:cs typeface="Times New Roman" pitchFamily="18" charset="0"/>
              </a:rPr>
              <a:t>Collaboration of Tester with developers, with product owners, with designers, and stakeholders:</a:t>
            </a:r>
          </a:p>
          <a:p>
            <a:pPr marL="320040" lvl="1" indent="0" algn="just">
              <a:buNone/>
            </a:pPr>
            <a:endParaRPr lang="en-US" sz="2400" b="1" dirty="0">
              <a:latin typeface="Times New Roman" pitchFamily="18" charset="0"/>
              <a:cs typeface="Times New Roman" pitchFamily="18" charset="0"/>
            </a:endParaRPr>
          </a:p>
          <a:p>
            <a:pPr marL="320040" lvl="1" indent="0" algn="just">
              <a:buNone/>
            </a:pPr>
            <a:r>
              <a:rPr lang="en-US" sz="2400" dirty="0">
                <a:latin typeface="Times New Roman" pitchFamily="18" charset="0"/>
                <a:cs typeface="Times New Roman" pitchFamily="18" charset="0"/>
              </a:rPr>
              <a:t>With Developers: Discuss defects, verify fixes, and understand the code changes affecting testing.</a:t>
            </a:r>
          </a:p>
          <a:p>
            <a:pPr marL="320040" lvl="1" indent="0" algn="just">
              <a:buNone/>
            </a:pPr>
            <a:endParaRPr lang="en-US" sz="2400" dirty="0">
              <a:latin typeface="Times New Roman" pitchFamily="18" charset="0"/>
              <a:cs typeface="Times New Roman" pitchFamily="18" charset="0"/>
            </a:endParaRPr>
          </a:p>
          <a:p>
            <a:pPr marL="320040" lvl="1" indent="0" algn="just">
              <a:buNone/>
            </a:pPr>
            <a:r>
              <a:rPr lang="en-US" sz="2400" dirty="0">
                <a:latin typeface="Times New Roman" pitchFamily="18" charset="0"/>
                <a:cs typeface="Times New Roman" pitchFamily="18" charset="0"/>
              </a:rPr>
              <a:t>With Product Owners: Ensure testing aligns with user stories and business requirements.</a:t>
            </a:r>
          </a:p>
          <a:p>
            <a:pPr marL="320040" lvl="1" indent="0" algn="just">
              <a:buNone/>
            </a:pPr>
            <a:endParaRPr lang="en-US" sz="2400" dirty="0">
              <a:latin typeface="Times New Roman" pitchFamily="18" charset="0"/>
              <a:cs typeface="Times New Roman" pitchFamily="18" charset="0"/>
            </a:endParaRPr>
          </a:p>
          <a:p>
            <a:pPr marL="320040" lvl="1" indent="0" algn="just">
              <a:buNone/>
            </a:pPr>
            <a:r>
              <a:rPr lang="en-US" sz="2400" dirty="0">
                <a:latin typeface="Times New Roman" pitchFamily="18" charset="0"/>
                <a:cs typeface="Times New Roman" pitchFamily="18" charset="0"/>
              </a:rPr>
              <a:t>With Designers: Validate that UI/UX design meets expectations and behaves correctly.</a:t>
            </a:r>
          </a:p>
          <a:p>
            <a:pPr marL="320040" lvl="1" indent="0" algn="just">
              <a:buNone/>
            </a:pPr>
            <a:endParaRPr lang="en-US" sz="2400" dirty="0">
              <a:latin typeface="Times New Roman" pitchFamily="18" charset="0"/>
              <a:cs typeface="Times New Roman" pitchFamily="18" charset="0"/>
            </a:endParaRPr>
          </a:p>
          <a:p>
            <a:pPr marL="320040" lvl="1" indent="0" algn="just">
              <a:buNone/>
            </a:pPr>
            <a:r>
              <a:rPr lang="en-US" sz="2400" dirty="0">
                <a:latin typeface="Times New Roman" pitchFamily="18" charset="0"/>
                <a:cs typeface="Times New Roman" pitchFamily="18" charset="0"/>
              </a:rPr>
              <a:t>With Stakeholders: Provide testing updates, timelines, and quality assessments.</a:t>
            </a:r>
          </a:p>
          <a:p>
            <a:pPr marL="320040" lvl="1" indent="0" algn="just">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217780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9067800" cy="1154097"/>
          </a:xfrm>
        </p:spPr>
        <p:txBody>
          <a:bodyPr>
            <a:noAutofit/>
          </a:bodyPr>
          <a:lstStyle/>
          <a:p>
            <a:r>
              <a:rPr lang="en-US" sz="3200" b="1" dirty="0">
                <a:latin typeface="Times New Roman" pitchFamily="18" charset="0"/>
                <a:cs typeface="Times New Roman" pitchFamily="18" charset="0"/>
              </a:rPr>
              <a:t>The Tester’s Role in a Software Development Organization</a:t>
            </a:r>
          </a:p>
        </p:txBody>
      </p:sp>
      <p:sp>
        <p:nvSpPr>
          <p:cNvPr id="3" name="Content Placeholder 2"/>
          <p:cNvSpPr>
            <a:spLocks noGrp="1"/>
          </p:cNvSpPr>
          <p:nvPr>
            <p:ph idx="1"/>
          </p:nvPr>
        </p:nvSpPr>
        <p:spPr>
          <a:xfrm>
            <a:off x="0" y="1600199"/>
            <a:ext cx="9144000" cy="5791201"/>
          </a:xfrm>
        </p:spPr>
        <p:txBody>
          <a:bodyPr>
            <a:normAutofit/>
          </a:bodyPr>
          <a:lstStyle/>
          <a:p>
            <a:pPr marL="320040" lvl="1" indent="0" algn="just">
              <a:buNone/>
            </a:pPr>
            <a:r>
              <a:rPr lang="en-US" sz="2800" b="1" dirty="0">
                <a:latin typeface="Times New Roman" pitchFamily="18" charset="0"/>
                <a:cs typeface="Times New Roman" pitchFamily="18" charset="0"/>
              </a:rPr>
              <a:t>Skills Used By Testers:</a:t>
            </a:r>
          </a:p>
          <a:p>
            <a:pPr algn="just"/>
            <a:r>
              <a:rPr lang="en-US" sz="2800" b="1" dirty="0">
                <a:latin typeface="Times New Roman" pitchFamily="18" charset="0"/>
                <a:cs typeface="Times New Roman" pitchFamily="18" charset="0"/>
              </a:rPr>
              <a:t> Analytical Thinking</a:t>
            </a:r>
            <a:r>
              <a:rPr lang="en-US" sz="2800" dirty="0">
                <a:latin typeface="Times New Roman" pitchFamily="18" charset="0"/>
                <a:cs typeface="Times New Roman" pitchFamily="18" charset="0"/>
              </a:rPr>
              <a:t>: Identify edge cases and potential issues.</a:t>
            </a:r>
          </a:p>
          <a:p>
            <a:pPr algn="just"/>
            <a:r>
              <a:rPr lang="en-US" sz="2800" b="1" dirty="0">
                <a:latin typeface="Times New Roman" pitchFamily="18" charset="0"/>
                <a:cs typeface="Times New Roman" pitchFamily="18" charset="0"/>
              </a:rPr>
              <a:t> Attention to Detail</a:t>
            </a:r>
            <a:r>
              <a:rPr lang="en-US" sz="2800" dirty="0">
                <a:latin typeface="Times New Roman" pitchFamily="18" charset="0"/>
                <a:cs typeface="Times New Roman" pitchFamily="18" charset="0"/>
              </a:rPr>
              <a:t>: Spot discrepancies in requirements and behavior.</a:t>
            </a:r>
          </a:p>
          <a:p>
            <a:pPr algn="just"/>
            <a:r>
              <a:rPr lang="en-US" sz="2800" b="1" dirty="0">
                <a:latin typeface="Times New Roman" pitchFamily="18" charset="0"/>
                <a:cs typeface="Times New Roman" pitchFamily="18" charset="0"/>
              </a:rPr>
              <a:t> Communication</a:t>
            </a:r>
            <a:r>
              <a:rPr lang="en-US" sz="2800" dirty="0">
                <a:latin typeface="Times New Roman" pitchFamily="18" charset="0"/>
                <a:cs typeface="Times New Roman" pitchFamily="18" charset="0"/>
              </a:rPr>
              <a:t>: Report issues and collaborate with teams effectively.</a:t>
            </a:r>
          </a:p>
          <a:p>
            <a:pPr algn="just"/>
            <a:r>
              <a:rPr lang="en-US" sz="2800" b="1" dirty="0">
                <a:latin typeface="Times New Roman" pitchFamily="18" charset="0"/>
                <a:cs typeface="Times New Roman" pitchFamily="18" charset="0"/>
              </a:rPr>
              <a:t> Problem-Solving</a:t>
            </a:r>
            <a:r>
              <a:rPr lang="en-US" sz="2800" dirty="0">
                <a:latin typeface="Times New Roman" pitchFamily="18" charset="0"/>
                <a:cs typeface="Times New Roman" pitchFamily="18" charset="0"/>
              </a:rPr>
              <a:t>: Diagnose issues and suggest solutions.</a:t>
            </a:r>
          </a:p>
          <a:p>
            <a:pPr algn="just"/>
            <a:r>
              <a:rPr lang="en-US" sz="2800" b="1" dirty="0">
                <a:latin typeface="Times New Roman" pitchFamily="18" charset="0"/>
                <a:cs typeface="Times New Roman" pitchFamily="18" charset="0"/>
              </a:rPr>
              <a:t> Technical Knowledge</a:t>
            </a:r>
            <a:r>
              <a:rPr lang="en-US" sz="2800" dirty="0">
                <a:latin typeface="Times New Roman" pitchFamily="18" charset="0"/>
                <a:cs typeface="Times New Roman" pitchFamily="18" charset="0"/>
              </a:rPr>
              <a:t>: Understanding of programming and databases for debugging.</a:t>
            </a:r>
          </a:p>
          <a:p>
            <a:pPr marL="320040" lvl="1" indent="0" algn="just">
              <a:buNone/>
            </a:pP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899398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9067800" cy="1154097"/>
          </a:xfrm>
        </p:spPr>
        <p:txBody>
          <a:bodyPr>
            <a:noAutofit/>
          </a:bodyPr>
          <a:lstStyle/>
          <a:p>
            <a:r>
              <a:rPr lang="en-US" sz="3200" b="1" dirty="0">
                <a:latin typeface="Times New Roman" pitchFamily="18" charset="0"/>
                <a:cs typeface="Times New Roman" pitchFamily="18" charset="0"/>
              </a:rPr>
              <a:t>The Tester’s Role in a Software Development Organization</a:t>
            </a:r>
          </a:p>
        </p:txBody>
      </p:sp>
      <p:sp>
        <p:nvSpPr>
          <p:cNvPr id="3" name="Content Placeholder 2"/>
          <p:cNvSpPr>
            <a:spLocks noGrp="1"/>
          </p:cNvSpPr>
          <p:nvPr>
            <p:ph idx="1"/>
          </p:nvPr>
        </p:nvSpPr>
        <p:spPr>
          <a:xfrm>
            <a:off x="0" y="1523999"/>
            <a:ext cx="9144000" cy="5791201"/>
          </a:xfrm>
        </p:spPr>
        <p:txBody>
          <a:bodyPr>
            <a:normAutofit/>
          </a:bodyPr>
          <a:lstStyle/>
          <a:p>
            <a:pPr marL="320040" lvl="1" indent="0" algn="just">
              <a:buNone/>
            </a:pPr>
            <a:r>
              <a:rPr lang="en-US" sz="2800" b="1" dirty="0">
                <a:latin typeface="Times New Roman" pitchFamily="18" charset="0"/>
                <a:cs typeface="Times New Roman" pitchFamily="18" charset="0"/>
              </a:rPr>
              <a:t>Tools Used By Testers:</a:t>
            </a:r>
          </a:p>
          <a:p>
            <a:pPr marL="320040" lvl="1" indent="0" algn="just">
              <a:buNone/>
            </a:pPr>
            <a:endParaRPr lang="en-US" sz="2800" b="1" dirty="0">
              <a:latin typeface="Times New Roman" pitchFamily="18" charset="0"/>
              <a:cs typeface="Times New Roman" pitchFamily="18" charset="0"/>
            </a:endParaRPr>
          </a:p>
          <a:p>
            <a:pPr lvl="1" algn="just">
              <a:buFont typeface="Wingdings" pitchFamily="2" charset="2"/>
              <a:buChar char="§"/>
            </a:pPr>
            <a:r>
              <a:rPr lang="en-US" sz="2800" b="1" dirty="0">
                <a:latin typeface="Times New Roman" pitchFamily="18" charset="0"/>
                <a:cs typeface="Times New Roman" pitchFamily="18" charset="0"/>
              </a:rPr>
              <a:t> Manual Testing Tools: JIRA, </a:t>
            </a:r>
            <a:r>
              <a:rPr lang="en-US" sz="2800" b="1" dirty="0" err="1">
                <a:latin typeface="Times New Roman" pitchFamily="18" charset="0"/>
                <a:cs typeface="Times New Roman" pitchFamily="18" charset="0"/>
              </a:rPr>
              <a:t>TestRail</a:t>
            </a:r>
            <a:r>
              <a:rPr lang="en-US" sz="2800" b="1" dirty="0">
                <a:latin typeface="Times New Roman" pitchFamily="18" charset="0"/>
                <a:cs typeface="Times New Roman" pitchFamily="18" charset="0"/>
              </a:rPr>
              <a:t>, Quality Center.</a:t>
            </a:r>
          </a:p>
          <a:p>
            <a:pPr lvl="1" algn="just">
              <a:buFont typeface="Wingdings" pitchFamily="2" charset="2"/>
              <a:buChar char="§"/>
            </a:pPr>
            <a:r>
              <a:rPr lang="en-US" sz="2800" b="1" dirty="0">
                <a:latin typeface="Times New Roman" pitchFamily="18" charset="0"/>
                <a:cs typeface="Times New Roman" pitchFamily="18" charset="0"/>
              </a:rPr>
              <a:t> Automation Tools: Selenium, QTP, </a:t>
            </a:r>
            <a:r>
              <a:rPr lang="en-US" sz="2800" b="1" dirty="0" err="1">
                <a:latin typeface="Times New Roman" pitchFamily="18" charset="0"/>
                <a:cs typeface="Times New Roman" pitchFamily="18" charset="0"/>
              </a:rPr>
              <a:t>Appium</a:t>
            </a:r>
            <a:r>
              <a:rPr lang="en-US" sz="2800" b="1" dirty="0">
                <a:latin typeface="Times New Roman" pitchFamily="18" charset="0"/>
                <a:cs typeface="Times New Roman" pitchFamily="18" charset="0"/>
              </a:rPr>
              <a:t>.</a:t>
            </a:r>
          </a:p>
          <a:p>
            <a:pPr lvl="1" algn="just">
              <a:buFont typeface="Wingdings" pitchFamily="2" charset="2"/>
              <a:buChar char="§"/>
            </a:pPr>
            <a:r>
              <a:rPr lang="en-US" sz="2800" b="1" dirty="0">
                <a:latin typeface="Times New Roman" pitchFamily="18" charset="0"/>
                <a:cs typeface="Times New Roman" pitchFamily="18" charset="0"/>
              </a:rPr>
              <a:t> Performance Testing Tools: </a:t>
            </a:r>
            <a:r>
              <a:rPr lang="en-US" sz="2800" b="1" dirty="0" err="1">
                <a:latin typeface="Times New Roman" pitchFamily="18" charset="0"/>
                <a:cs typeface="Times New Roman" pitchFamily="18" charset="0"/>
              </a:rPr>
              <a:t>JMeter</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LoadRunner</a:t>
            </a:r>
            <a:r>
              <a:rPr lang="en-US" sz="2800" b="1" dirty="0">
                <a:latin typeface="Times New Roman" pitchFamily="18" charset="0"/>
                <a:cs typeface="Times New Roman" pitchFamily="18" charset="0"/>
              </a:rPr>
              <a:t>.</a:t>
            </a:r>
          </a:p>
          <a:p>
            <a:pPr lvl="1" algn="just">
              <a:buFont typeface="Wingdings" pitchFamily="2" charset="2"/>
              <a:buChar char="§"/>
            </a:pPr>
            <a:r>
              <a:rPr lang="en-US" sz="2800" b="1" dirty="0">
                <a:latin typeface="Times New Roman" pitchFamily="18" charset="0"/>
                <a:cs typeface="Times New Roman" pitchFamily="18" charset="0"/>
              </a:rPr>
              <a:t> Bug Tracking Tools: JIRA, </a:t>
            </a:r>
            <a:r>
              <a:rPr lang="en-US" sz="2800" b="1" dirty="0" err="1">
                <a:latin typeface="Times New Roman" pitchFamily="18" charset="0"/>
                <a:cs typeface="Times New Roman" pitchFamily="18" charset="0"/>
              </a:rPr>
              <a:t>Bugzilla</a:t>
            </a:r>
            <a:r>
              <a:rPr lang="en-US" sz="2800" b="1" dirty="0">
                <a:latin typeface="Times New Roman" pitchFamily="18" charset="0"/>
                <a:cs typeface="Times New Roman" pitchFamily="18" charset="0"/>
              </a:rPr>
              <a:t>.</a:t>
            </a:r>
          </a:p>
          <a:p>
            <a:pPr lvl="1" algn="just">
              <a:buFont typeface="Wingdings" pitchFamily="2" charset="2"/>
              <a:buChar char="§"/>
            </a:pPr>
            <a:r>
              <a:rPr lang="en-US" sz="2800" b="1" dirty="0">
                <a:latin typeface="Times New Roman" pitchFamily="18" charset="0"/>
                <a:cs typeface="Times New Roman" pitchFamily="18" charset="0"/>
              </a:rPr>
              <a:t> CI/CD Tools: Jenkins, </a:t>
            </a:r>
            <a:r>
              <a:rPr lang="en-US" sz="2800" b="1" dirty="0" err="1">
                <a:latin typeface="Times New Roman" pitchFamily="18" charset="0"/>
                <a:cs typeface="Times New Roman" pitchFamily="18" charset="0"/>
              </a:rPr>
              <a:t>GitLab</a:t>
            </a:r>
            <a:r>
              <a:rPr lang="en-US" sz="2800" b="1" dirty="0">
                <a:latin typeface="Times New Roman" pitchFamily="18" charset="0"/>
                <a:cs typeface="Times New Roman" pitchFamily="18" charset="0"/>
              </a:rPr>
              <a:t> CI.</a:t>
            </a:r>
          </a:p>
          <a:p>
            <a:pPr lvl="1" algn="just">
              <a:buFont typeface="Wingdings" pitchFamily="2" charset="2"/>
              <a:buChar char="§"/>
            </a:pPr>
            <a:r>
              <a:rPr lang="en-US" sz="2800" b="1" dirty="0">
                <a:latin typeface="Times New Roman" pitchFamily="18" charset="0"/>
                <a:cs typeface="Times New Roman" pitchFamily="18" charset="0"/>
              </a:rPr>
              <a:t> API Testing Tools: Postman, </a:t>
            </a:r>
            <a:r>
              <a:rPr lang="en-US" sz="2800" b="1" dirty="0" err="1">
                <a:latin typeface="Times New Roman" pitchFamily="18" charset="0"/>
                <a:cs typeface="Times New Roman" pitchFamily="18" charset="0"/>
              </a:rPr>
              <a:t>SoapUI</a:t>
            </a:r>
            <a:r>
              <a:rPr lang="en-US" sz="2800" b="1" dirty="0">
                <a:latin typeface="Times New Roman" pitchFamily="18" charset="0"/>
                <a:cs typeface="Times New Roman" pitchFamily="18" charset="0"/>
              </a:rPr>
              <a:t>.</a:t>
            </a:r>
          </a:p>
        </p:txBody>
      </p:sp>
    </p:spTree>
    <p:extLst>
      <p:ext uri="{BB962C8B-B14F-4D97-AF65-F5344CB8AC3E}">
        <p14:creationId xmlns:p14="http://schemas.microsoft.com/office/powerpoint/2010/main" val="1311271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534400" cy="4038600"/>
          </a:xfrm>
        </p:spPr>
        <p:txBody>
          <a:bodyPr>
            <a:noAutofit/>
          </a:bodyPr>
          <a:lstStyle/>
          <a:p>
            <a:r>
              <a:rPr lang="en-US" sz="3200" b="1" u="sng" dirty="0">
                <a:latin typeface="Times New Roman" pitchFamily="18" charset="0"/>
                <a:cs typeface="Times New Roman" pitchFamily="18" charset="0"/>
              </a:rPr>
              <a:t>Origins of Defects: </a:t>
            </a:r>
            <a:br>
              <a:rPr lang="en-US" b="1" dirty="0">
                <a:latin typeface="Times New Roman" pitchFamily="18" charset="0"/>
                <a:cs typeface="Times New Roman" pitchFamily="18" charset="0"/>
              </a:rPr>
            </a:br>
            <a:br>
              <a:rPr lang="en-US" b="1" dirty="0">
                <a:latin typeface="Times New Roman" pitchFamily="18" charset="0"/>
                <a:cs typeface="Times New Roman" pitchFamily="18" charset="0"/>
              </a:rPr>
            </a:br>
            <a:r>
              <a:rPr lang="en-US" sz="3200" b="1" dirty="0">
                <a:latin typeface="Times New Roman" pitchFamily="18" charset="0"/>
                <a:cs typeface="Times New Roman" pitchFamily="18" charset="0"/>
              </a:rPr>
              <a:t>1.  Defects Classes</a:t>
            </a:r>
            <a:br>
              <a:rPr lang="en-US" sz="3200" b="1" dirty="0">
                <a:latin typeface="Times New Roman" pitchFamily="18" charset="0"/>
                <a:cs typeface="Times New Roman" pitchFamily="18" charset="0"/>
              </a:rPr>
            </a:br>
            <a:r>
              <a:rPr lang="en-US" sz="3200" b="1" dirty="0">
                <a:latin typeface="Times New Roman" pitchFamily="18" charset="0"/>
                <a:cs typeface="Times New Roman" pitchFamily="18" charset="0"/>
              </a:rPr>
              <a:t>2.  The Defect Repository and Test Design</a:t>
            </a:r>
            <a:br>
              <a:rPr lang="en-US" sz="3200" b="1" dirty="0">
                <a:latin typeface="Times New Roman" pitchFamily="18" charset="0"/>
                <a:cs typeface="Times New Roman" pitchFamily="18" charset="0"/>
              </a:rPr>
            </a:br>
            <a:r>
              <a:rPr lang="en-US" sz="3200" b="1" dirty="0">
                <a:latin typeface="Times New Roman" pitchFamily="18" charset="0"/>
                <a:cs typeface="Times New Roman" pitchFamily="18" charset="0"/>
              </a:rPr>
              <a:t>3.  Defect Examples</a:t>
            </a:r>
            <a:br>
              <a:rPr lang="en-US" sz="3200" b="1" dirty="0">
                <a:latin typeface="Times New Roman" pitchFamily="18" charset="0"/>
                <a:cs typeface="Times New Roman" pitchFamily="18" charset="0"/>
              </a:rPr>
            </a:br>
            <a:r>
              <a:rPr lang="en-US" sz="3200" b="1" dirty="0">
                <a:latin typeface="Times New Roman" pitchFamily="18" charset="0"/>
                <a:cs typeface="Times New Roman" pitchFamily="18" charset="0"/>
              </a:rPr>
              <a:t>4.  Developer/Tester Support for Developing a Defect Repository</a:t>
            </a:r>
          </a:p>
        </p:txBody>
      </p:sp>
    </p:spTree>
    <p:extLst>
      <p:ext uri="{BB962C8B-B14F-4D97-AF65-F5344CB8AC3E}">
        <p14:creationId xmlns:p14="http://schemas.microsoft.com/office/powerpoint/2010/main" val="1572624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8534400" cy="1752600"/>
          </a:xfrm>
        </p:spPr>
        <p:txBody>
          <a:bodyPr>
            <a:noAutofit/>
          </a:bodyPr>
          <a:lstStyle/>
          <a:p>
            <a:r>
              <a:rPr lang="en-US" b="1" dirty="0">
                <a:latin typeface="Times New Roman" pitchFamily="18" charset="0"/>
                <a:cs typeface="Times New Roman" pitchFamily="18" charset="0"/>
              </a:rPr>
              <a:t>Origins of Defects: </a:t>
            </a:r>
            <a:br>
              <a:rPr lang="en-US" b="1" dirty="0">
                <a:latin typeface="Times New Roman" pitchFamily="18" charset="0"/>
                <a:cs typeface="Times New Roman" pitchFamily="18" charset="0"/>
              </a:rPr>
            </a:br>
            <a:br>
              <a:rPr lang="en-US" b="1" dirty="0">
                <a:latin typeface="Times New Roman" pitchFamily="18" charset="0"/>
                <a:cs typeface="Times New Roman" pitchFamily="18" charset="0"/>
              </a:rPr>
            </a:br>
            <a:endParaRPr lang="en-US" sz="3200" b="1" dirty="0">
              <a:latin typeface="Times New Roman" pitchFamily="18" charset="0"/>
              <a:cs typeface="Times New Roman" pitchFamily="18" charset="0"/>
            </a:endParaRPr>
          </a:p>
        </p:txBody>
      </p:sp>
      <p:sp>
        <p:nvSpPr>
          <p:cNvPr id="4" name="Content Placeholder 2"/>
          <p:cNvSpPr>
            <a:spLocks noGrp="1"/>
          </p:cNvSpPr>
          <p:nvPr>
            <p:ph idx="1"/>
          </p:nvPr>
        </p:nvSpPr>
        <p:spPr>
          <a:xfrm>
            <a:off x="0" y="990600"/>
            <a:ext cx="9144000" cy="6172200"/>
          </a:xfrm>
        </p:spPr>
        <p:txBody>
          <a:bodyPr>
            <a:normAutofit/>
          </a:bodyPr>
          <a:lstStyle/>
          <a:p>
            <a:pPr marL="45720" indent="0" algn="just">
              <a:buNone/>
            </a:pPr>
            <a:r>
              <a:rPr lang="en-US" sz="2400" b="1" dirty="0">
                <a:latin typeface="Times New Roman" pitchFamily="18" charset="0"/>
                <a:cs typeface="Times New Roman" pitchFamily="18" charset="0"/>
              </a:rPr>
              <a:t>The most important points for the origin of defects:</a:t>
            </a:r>
          </a:p>
          <a:p>
            <a:pPr algn="just"/>
            <a:r>
              <a:rPr lang="en-US" sz="2400" b="1" dirty="0">
                <a:latin typeface="Times New Roman" pitchFamily="18" charset="0"/>
                <a:cs typeface="Times New Roman" pitchFamily="18" charset="0"/>
              </a:rPr>
              <a:t> Requirements Defects</a:t>
            </a:r>
            <a:r>
              <a:rPr lang="en-US" sz="2400" dirty="0">
                <a:latin typeface="Times New Roman" pitchFamily="18" charset="0"/>
                <a:cs typeface="Times New Roman" pitchFamily="18" charset="0"/>
              </a:rPr>
              <a:t>: Misunderstandings or unclear requirements.</a:t>
            </a:r>
          </a:p>
          <a:p>
            <a:pPr algn="just"/>
            <a:r>
              <a:rPr lang="en-US" sz="2400" b="1" dirty="0">
                <a:latin typeface="Times New Roman" pitchFamily="18" charset="0"/>
                <a:cs typeface="Times New Roman" pitchFamily="18" charset="0"/>
              </a:rPr>
              <a:t> Design Defects</a:t>
            </a:r>
            <a:r>
              <a:rPr lang="en-US" sz="2400" dirty="0">
                <a:latin typeface="Times New Roman" pitchFamily="18" charset="0"/>
                <a:cs typeface="Times New Roman" pitchFamily="18" charset="0"/>
              </a:rPr>
              <a:t>: Flaws in system architecture or design decisions.</a:t>
            </a:r>
          </a:p>
          <a:p>
            <a:pPr algn="just"/>
            <a:r>
              <a:rPr lang="en-US" sz="2400" b="1" dirty="0">
                <a:latin typeface="Times New Roman" pitchFamily="18" charset="0"/>
                <a:cs typeface="Times New Roman" pitchFamily="18" charset="0"/>
              </a:rPr>
              <a:t> Coding Defects</a:t>
            </a:r>
            <a:r>
              <a:rPr lang="en-US" sz="2400" dirty="0">
                <a:latin typeface="Times New Roman" pitchFamily="18" charset="0"/>
                <a:cs typeface="Times New Roman" pitchFamily="18" charset="0"/>
              </a:rPr>
              <a:t>: Errors made during development, including logic and human mistakes.</a:t>
            </a:r>
          </a:p>
          <a:p>
            <a:pPr algn="just"/>
            <a:r>
              <a:rPr lang="en-US" sz="2400" b="1" dirty="0">
                <a:latin typeface="Times New Roman" pitchFamily="18" charset="0"/>
                <a:cs typeface="Times New Roman" pitchFamily="18" charset="0"/>
              </a:rPr>
              <a:t> Testing Defects</a:t>
            </a:r>
            <a:r>
              <a:rPr lang="en-US" sz="2400" dirty="0">
                <a:latin typeface="Times New Roman" pitchFamily="18" charset="0"/>
                <a:cs typeface="Times New Roman" pitchFamily="18" charset="0"/>
              </a:rPr>
              <a:t>: Insufficient or poor test coverage, missing critical issues.</a:t>
            </a:r>
          </a:p>
          <a:p>
            <a:pPr algn="just"/>
            <a:r>
              <a:rPr lang="en-US" sz="2400" b="1" dirty="0">
                <a:latin typeface="Times New Roman" pitchFamily="18" charset="0"/>
                <a:cs typeface="Times New Roman" pitchFamily="18" charset="0"/>
              </a:rPr>
              <a:t> User Defects</a:t>
            </a:r>
            <a:r>
              <a:rPr lang="en-US" sz="2400" dirty="0">
                <a:latin typeface="Times New Roman" pitchFamily="18" charset="0"/>
                <a:cs typeface="Times New Roman" pitchFamily="18" charset="0"/>
              </a:rPr>
              <a:t>: Incorrect usage or unmet user expectations.</a:t>
            </a:r>
          </a:p>
          <a:p>
            <a:pPr algn="just"/>
            <a:r>
              <a:rPr lang="en-US" sz="2400" b="1" dirty="0">
                <a:latin typeface="Times New Roman" pitchFamily="18" charset="0"/>
                <a:cs typeface="Times New Roman" pitchFamily="18" charset="0"/>
              </a:rPr>
              <a:t> Management and Process Defects</a:t>
            </a:r>
            <a:r>
              <a:rPr lang="en-US" sz="2400" dirty="0">
                <a:latin typeface="Times New Roman" pitchFamily="18" charset="0"/>
                <a:cs typeface="Times New Roman" pitchFamily="18" charset="0"/>
              </a:rPr>
              <a:t>: Poor communication, planning, or process management.</a:t>
            </a:r>
          </a:p>
          <a:p>
            <a:pPr algn="just"/>
            <a:r>
              <a:rPr lang="en-US" sz="2400" b="1" dirty="0">
                <a:latin typeface="Times New Roman" pitchFamily="18" charset="0"/>
                <a:cs typeface="Times New Roman" pitchFamily="18" charset="0"/>
              </a:rPr>
              <a:t> External Dependencies</a:t>
            </a:r>
            <a:r>
              <a:rPr lang="en-US" sz="2400" dirty="0">
                <a:latin typeface="Times New Roman" pitchFamily="18" charset="0"/>
                <a:cs typeface="Times New Roman" pitchFamily="18" charset="0"/>
              </a:rPr>
              <a:t>: Failures from third-party libraries or services.</a:t>
            </a:r>
          </a:p>
          <a:p>
            <a:pPr algn="just"/>
            <a:r>
              <a:rPr lang="en-US" sz="2400" b="1" dirty="0">
                <a:latin typeface="Times New Roman" pitchFamily="18" charset="0"/>
                <a:cs typeface="Times New Roman" pitchFamily="18" charset="0"/>
              </a:rPr>
              <a:t> Legacy System Defects</a:t>
            </a:r>
            <a:r>
              <a:rPr lang="en-US" sz="2400" dirty="0">
                <a:latin typeface="Times New Roman" pitchFamily="18" charset="0"/>
                <a:cs typeface="Times New Roman" pitchFamily="18" charset="0"/>
              </a:rPr>
              <a:t>: Integration issues with older systems.</a:t>
            </a:r>
          </a:p>
          <a:p>
            <a:pPr marL="320040" lvl="1" indent="0" algn="just">
              <a:buNone/>
            </a:pP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38923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8534400" cy="1752600"/>
          </a:xfrm>
        </p:spPr>
        <p:txBody>
          <a:bodyPr>
            <a:noAutofit/>
          </a:bodyPr>
          <a:lstStyle/>
          <a:p>
            <a:r>
              <a:rPr lang="en-US" b="1" dirty="0">
                <a:latin typeface="Times New Roman" pitchFamily="18" charset="0"/>
                <a:cs typeface="Times New Roman" pitchFamily="18" charset="0"/>
              </a:rPr>
              <a:t>Defects Classes: </a:t>
            </a:r>
            <a:br>
              <a:rPr lang="en-US" b="1" dirty="0">
                <a:latin typeface="Times New Roman" pitchFamily="18" charset="0"/>
                <a:cs typeface="Times New Roman" pitchFamily="18" charset="0"/>
              </a:rPr>
            </a:br>
            <a:br>
              <a:rPr lang="en-US" b="1" dirty="0">
                <a:latin typeface="Times New Roman" pitchFamily="18" charset="0"/>
                <a:cs typeface="Times New Roman" pitchFamily="18" charset="0"/>
              </a:rPr>
            </a:br>
            <a:endParaRPr lang="en-US" sz="3200" b="1" dirty="0">
              <a:latin typeface="Times New Roman" pitchFamily="18" charset="0"/>
              <a:cs typeface="Times New Roman" pitchFamily="18" charset="0"/>
            </a:endParaRPr>
          </a:p>
        </p:txBody>
      </p:sp>
      <p:sp>
        <p:nvSpPr>
          <p:cNvPr id="4" name="Content Placeholder 2"/>
          <p:cNvSpPr>
            <a:spLocks noGrp="1"/>
          </p:cNvSpPr>
          <p:nvPr>
            <p:ph idx="1"/>
          </p:nvPr>
        </p:nvSpPr>
        <p:spPr>
          <a:xfrm>
            <a:off x="0" y="1676400"/>
            <a:ext cx="9144000" cy="5867400"/>
          </a:xfrm>
        </p:spPr>
        <p:txBody>
          <a:bodyPr>
            <a:noAutofit/>
          </a:bodyPr>
          <a:lstStyle/>
          <a:p>
            <a:pPr marL="45720" indent="0" algn="just">
              <a:buNone/>
            </a:pPr>
            <a:r>
              <a:rPr lang="en-US" sz="2400" b="1" dirty="0">
                <a:latin typeface="Times New Roman" pitchFamily="18" charset="0"/>
                <a:cs typeface="Times New Roman" pitchFamily="18" charset="0"/>
              </a:rPr>
              <a:t>Defect Classes:</a:t>
            </a:r>
          </a:p>
          <a:p>
            <a:pPr algn="just"/>
            <a:r>
              <a:rPr lang="en-US" sz="2400" b="1" dirty="0">
                <a:latin typeface="Times New Roman" pitchFamily="18" charset="0"/>
                <a:cs typeface="Times New Roman" pitchFamily="18" charset="0"/>
              </a:rPr>
              <a:t> Functional Defects</a:t>
            </a:r>
            <a:r>
              <a:rPr lang="en-US" sz="2400" dirty="0">
                <a:latin typeface="Times New Roman" pitchFamily="18" charset="0"/>
                <a:cs typeface="Times New Roman" pitchFamily="18" charset="0"/>
              </a:rPr>
              <a:t>: Failures to meet functional requirements (e.g., incorrect calculations).</a:t>
            </a:r>
          </a:p>
          <a:p>
            <a:pPr algn="just"/>
            <a:r>
              <a:rPr lang="en-US" sz="2400" b="1" dirty="0">
                <a:latin typeface="Times New Roman" pitchFamily="18" charset="0"/>
                <a:cs typeface="Times New Roman" pitchFamily="18" charset="0"/>
              </a:rPr>
              <a:t> Non-functional Defects</a:t>
            </a:r>
            <a:r>
              <a:rPr lang="en-US" sz="2400" dirty="0">
                <a:latin typeface="Times New Roman" pitchFamily="18" charset="0"/>
                <a:cs typeface="Times New Roman" pitchFamily="18" charset="0"/>
              </a:rPr>
              <a:t>: Issues with performance, security, or usability (e.g., slow response, security flaws).</a:t>
            </a:r>
          </a:p>
          <a:p>
            <a:pPr algn="just"/>
            <a:r>
              <a:rPr lang="en-US" sz="2400" b="1" dirty="0">
                <a:latin typeface="Times New Roman" pitchFamily="18" charset="0"/>
                <a:cs typeface="Times New Roman" pitchFamily="18" charset="0"/>
              </a:rPr>
              <a:t> Interface Defects</a:t>
            </a:r>
            <a:r>
              <a:rPr lang="en-US" sz="2400" dirty="0">
                <a:latin typeface="Times New Roman" pitchFamily="18" charset="0"/>
                <a:cs typeface="Times New Roman" pitchFamily="18" charset="0"/>
              </a:rPr>
              <a:t>: Problems with communication between components or systems (e.g., API errors).</a:t>
            </a:r>
          </a:p>
          <a:p>
            <a:pPr algn="just"/>
            <a:r>
              <a:rPr lang="en-US" sz="2400" b="1" dirty="0">
                <a:latin typeface="Times New Roman" pitchFamily="18" charset="0"/>
                <a:cs typeface="Times New Roman" pitchFamily="18" charset="0"/>
              </a:rPr>
              <a:t> Boundary Defects</a:t>
            </a:r>
            <a:r>
              <a:rPr lang="en-US" sz="2400" dirty="0">
                <a:latin typeface="Times New Roman" pitchFamily="18" charset="0"/>
                <a:cs typeface="Times New Roman" pitchFamily="18" charset="0"/>
              </a:rPr>
              <a:t>: Errors at the limits of input or output values (e.g., exceeding max input limits).</a:t>
            </a:r>
          </a:p>
          <a:p>
            <a:pPr algn="just"/>
            <a:r>
              <a:rPr lang="en-US" sz="2400" b="1" dirty="0">
                <a:latin typeface="Times New Roman" pitchFamily="18" charset="0"/>
                <a:cs typeface="Times New Roman" pitchFamily="18" charset="0"/>
              </a:rPr>
              <a:t> Configuration Defects</a:t>
            </a:r>
            <a:r>
              <a:rPr lang="en-US" sz="2400" dirty="0">
                <a:latin typeface="Times New Roman" pitchFamily="18" charset="0"/>
                <a:cs typeface="Times New Roman" pitchFamily="18" charset="0"/>
              </a:rPr>
              <a:t>: Issues from incorrect system setup or environment mismatches (e.g., wrong settings).</a:t>
            </a:r>
          </a:p>
        </p:txBody>
      </p:sp>
    </p:spTree>
    <p:extLst>
      <p:ext uri="{BB962C8B-B14F-4D97-AF65-F5344CB8AC3E}">
        <p14:creationId xmlns:p14="http://schemas.microsoft.com/office/powerpoint/2010/main" val="2189863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8534400" cy="1752600"/>
          </a:xfrm>
        </p:spPr>
        <p:txBody>
          <a:bodyPr>
            <a:noAutofit/>
          </a:bodyPr>
          <a:lstStyle/>
          <a:p>
            <a:r>
              <a:rPr lang="en-US" b="1" dirty="0">
                <a:latin typeface="Times New Roman" pitchFamily="18" charset="0"/>
                <a:cs typeface="Times New Roman" pitchFamily="18" charset="0"/>
              </a:rPr>
              <a:t>Defects Classes: </a:t>
            </a:r>
            <a:br>
              <a:rPr lang="en-US" b="1" dirty="0">
                <a:latin typeface="Times New Roman" pitchFamily="18" charset="0"/>
                <a:cs typeface="Times New Roman" pitchFamily="18" charset="0"/>
              </a:rPr>
            </a:br>
            <a:br>
              <a:rPr lang="en-US" b="1" dirty="0">
                <a:latin typeface="Times New Roman" pitchFamily="18" charset="0"/>
                <a:cs typeface="Times New Roman" pitchFamily="18" charset="0"/>
              </a:rPr>
            </a:br>
            <a:endParaRPr lang="en-US" sz="3200" b="1" dirty="0">
              <a:latin typeface="Times New Roman" pitchFamily="18" charset="0"/>
              <a:cs typeface="Times New Roman" pitchFamily="18" charset="0"/>
            </a:endParaRPr>
          </a:p>
        </p:txBody>
      </p:sp>
      <p:sp>
        <p:nvSpPr>
          <p:cNvPr id="4" name="Content Placeholder 2"/>
          <p:cNvSpPr>
            <a:spLocks noGrp="1"/>
          </p:cNvSpPr>
          <p:nvPr>
            <p:ph idx="1"/>
          </p:nvPr>
        </p:nvSpPr>
        <p:spPr>
          <a:xfrm>
            <a:off x="0" y="1676400"/>
            <a:ext cx="9144000" cy="5867400"/>
          </a:xfrm>
        </p:spPr>
        <p:txBody>
          <a:bodyPr>
            <a:noAutofit/>
          </a:bodyPr>
          <a:lstStyle/>
          <a:p>
            <a:pPr marL="45720" indent="0" algn="just">
              <a:buNone/>
            </a:pPr>
            <a:r>
              <a:rPr lang="en-US" sz="2400" b="1" dirty="0">
                <a:latin typeface="Times New Roman" pitchFamily="18" charset="0"/>
                <a:cs typeface="Times New Roman" pitchFamily="18" charset="0"/>
              </a:rPr>
              <a:t>Defect Classes:</a:t>
            </a:r>
          </a:p>
          <a:p>
            <a:pPr algn="just"/>
            <a:r>
              <a:rPr lang="en-US" sz="2400" b="1" dirty="0">
                <a:latin typeface="Times New Roman" pitchFamily="18" charset="0"/>
                <a:cs typeface="Times New Roman" pitchFamily="18" charset="0"/>
              </a:rPr>
              <a:t> Performance Defects</a:t>
            </a:r>
            <a:r>
              <a:rPr lang="en-US" sz="2400" dirty="0">
                <a:latin typeface="Times New Roman" pitchFamily="18" charset="0"/>
                <a:cs typeface="Times New Roman" pitchFamily="18" charset="0"/>
              </a:rPr>
              <a:t>: Problems with system speed or scalability (e.g., long load times).</a:t>
            </a:r>
          </a:p>
          <a:p>
            <a:pPr algn="just"/>
            <a:r>
              <a:rPr lang="en-US" sz="2400" b="1" dirty="0">
                <a:latin typeface="Times New Roman" pitchFamily="18" charset="0"/>
                <a:cs typeface="Times New Roman" pitchFamily="18" charset="0"/>
              </a:rPr>
              <a:t> Usability Defects</a:t>
            </a:r>
            <a:r>
              <a:rPr lang="en-US" sz="2400" dirty="0">
                <a:latin typeface="Times New Roman" pitchFamily="18" charset="0"/>
                <a:cs typeface="Times New Roman" pitchFamily="18" charset="0"/>
              </a:rPr>
              <a:t>: Poor user experience (e.g., confusing UI or navigation).</a:t>
            </a:r>
          </a:p>
          <a:p>
            <a:pPr algn="just"/>
            <a:r>
              <a:rPr lang="en-US" sz="2400" b="1" dirty="0">
                <a:latin typeface="Times New Roman" pitchFamily="18" charset="0"/>
                <a:cs typeface="Times New Roman" pitchFamily="18" charset="0"/>
              </a:rPr>
              <a:t> Security Defects</a:t>
            </a:r>
            <a:r>
              <a:rPr lang="en-US" sz="2400" dirty="0">
                <a:latin typeface="Times New Roman" pitchFamily="18" charset="0"/>
                <a:cs typeface="Times New Roman" pitchFamily="18" charset="0"/>
              </a:rPr>
              <a:t>: Vulnerabilities exposing the system to attacks (e.g., weak encryption).</a:t>
            </a:r>
          </a:p>
          <a:p>
            <a:pPr algn="just"/>
            <a:r>
              <a:rPr lang="en-US" sz="2400" b="1" dirty="0">
                <a:latin typeface="Times New Roman" pitchFamily="18" charset="0"/>
                <a:cs typeface="Times New Roman" pitchFamily="18" charset="0"/>
              </a:rPr>
              <a:t> Regression Defects</a:t>
            </a:r>
            <a:r>
              <a:rPr lang="en-US" sz="2400" dirty="0">
                <a:latin typeface="Times New Roman" pitchFamily="18" charset="0"/>
                <a:cs typeface="Times New Roman" pitchFamily="18" charset="0"/>
              </a:rPr>
              <a:t>: Breakage of previously working functionality due to new changes.</a:t>
            </a:r>
          </a:p>
          <a:p>
            <a:pPr algn="just"/>
            <a:r>
              <a:rPr lang="en-US" sz="2400" b="1" dirty="0">
                <a:latin typeface="Times New Roman" pitchFamily="18" charset="0"/>
                <a:cs typeface="Times New Roman" pitchFamily="18" charset="0"/>
              </a:rPr>
              <a:t> Data Defects</a:t>
            </a:r>
            <a:r>
              <a:rPr lang="en-US" sz="2400" dirty="0">
                <a:latin typeface="Times New Roman" pitchFamily="18" charset="0"/>
                <a:cs typeface="Times New Roman" pitchFamily="18" charset="0"/>
              </a:rPr>
              <a:t>: Incorrect or missing data (e.g., database errors).</a:t>
            </a:r>
          </a:p>
          <a:p>
            <a:pPr marL="320040" lvl="1" indent="0" algn="just">
              <a:buNone/>
            </a:pP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806995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85800"/>
            <a:ext cx="8534400" cy="1752600"/>
          </a:xfrm>
        </p:spPr>
        <p:txBody>
          <a:bodyPr>
            <a:noAutofit/>
          </a:bodyPr>
          <a:lstStyle/>
          <a:p>
            <a:r>
              <a:rPr lang="en-US" b="1" dirty="0">
                <a:latin typeface="Times New Roman" pitchFamily="18" charset="0"/>
                <a:cs typeface="Times New Roman" pitchFamily="18" charset="0"/>
              </a:rPr>
              <a:t>The Defect Repository and Test Design: </a:t>
            </a:r>
            <a:br>
              <a:rPr lang="en-US" b="1" dirty="0">
                <a:latin typeface="Times New Roman" pitchFamily="18" charset="0"/>
                <a:cs typeface="Times New Roman" pitchFamily="18" charset="0"/>
              </a:rPr>
            </a:br>
            <a:br>
              <a:rPr lang="en-US" b="1" dirty="0">
                <a:latin typeface="Times New Roman" pitchFamily="18" charset="0"/>
                <a:cs typeface="Times New Roman" pitchFamily="18" charset="0"/>
              </a:rPr>
            </a:br>
            <a:endParaRPr lang="en-US" sz="3200" b="1" dirty="0">
              <a:latin typeface="Times New Roman" pitchFamily="18" charset="0"/>
              <a:cs typeface="Times New Roman" pitchFamily="18" charset="0"/>
            </a:endParaRPr>
          </a:p>
        </p:txBody>
      </p:sp>
      <p:sp>
        <p:nvSpPr>
          <p:cNvPr id="4" name="Content Placeholder 2"/>
          <p:cNvSpPr>
            <a:spLocks noGrp="1"/>
          </p:cNvSpPr>
          <p:nvPr>
            <p:ph idx="1"/>
          </p:nvPr>
        </p:nvSpPr>
        <p:spPr>
          <a:xfrm>
            <a:off x="0" y="1295400"/>
            <a:ext cx="9144000" cy="5867400"/>
          </a:xfrm>
        </p:spPr>
        <p:txBody>
          <a:bodyPr>
            <a:noAutofit/>
          </a:bodyPr>
          <a:lstStyle/>
          <a:p>
            <a:pPr marL="45720" indent="0" algn="just">
              <a:buNone/>
            </a:pPr>
            <a:r>
              <a:rPr lang="en-US" sz="2400" b="1" dirty="0">
                <a:latin typeface="Times New Roman" pitchFamily="18" charset="0"/>
                <a:cs typeface="Times New Roman" pitchFamily="18" charset="0"/>
              </a:rPr>
              <a:t>Defect Repository: </a:t>
            </a:r>
            <a:r>
              <a:rPr lang="en-US" sz="2400" dirty="0">
                <a:latin typeface="Times New Roman" pitchFamily="18" charset="0"/>
                <a:cs typeface="Times New Roman" pitchFamily="18" charset="0"/>
              </a:rPr>
              <a:t>A </a:t>
            </a:r>
            <a:r>
              <a:rPr lang="en-US" sz="2400" b="1" dirty="0">
                <a:latin typeface="Times New Roman" pitchFamily="18" charset="0"/>
                <a:cs typeface="Times New Roman" pitchFamily="18" charset="0"/>
              </a:rPr>
              <a:t>defect repository</a:t>
            </a:r>
            <a:r>
              <a:rPr lang="en-US" sz="2400" dirty="0">
                <a:latin typeface="Times New Roman" pitchFamily="18" charset="0"/>
                <a:cs typeface="Times New Roman" pitchFamily="18" charset="0"/>
              </a:rPr>
              <a:t> is a centralized system where all defects identified during testing are documented and tracked. It contains detailed information about each defect, helping teams understand the issues and prioritize fixes. </a:t>
            </a:r>
          </a:p>
          <a:p>
            <a:pPr marL="45720" indent="0" algn="just">
              <a:buNone/>
            </a:pPr>
            <a:r>
              <a:rPr lang="en-US" sz="2400" b="1" dirty="0">
                <a:latin typeface="Times New Roman" pitchFamily="18" charset="0"/>
                <a:cs typeface="Times New Roman" pitchFamily="18" charset="0"/>
              </a:rPr>
              <a:t>Key features include:</a:t>
            </a:r>
          </a:p>
          <a:p>
            <a:pPr algn="just"/>
            <a:r>
              <a:rPr lang="en-US" sz="2400" b="1" dirty="0">
                <a:latin typeface="Times New Roman" pitchFamily="18" charset="0"/>
                <a:cs typeface="Times New Roman" pitchFamily="18" charset="0"/>
              </a:rPr>
              <a:t> Defect ID</a:t>
            </a:r>
            <a:r>
              <a:rPr lang="en-US" sz="2400" dirty="0">
                <a:latin typeface="Times New Roman" pitchFamily="18" charset="0"/>
                <a:cs typeface="Times New Roman" pitchFamily="18" charset="0"/>
              </a:rPr>
              <a:t>: Unique identifier for each defect.</a:t>
            </a:r>
          </a:p>
          <a:p>
            <a:pPr algn="just"/>
            <a:r>
              <a:rPr lang="en-US" sz="2400" b="1" dirty="0">
                <a:latin typeface="Times New Roman" pitchFamily="18" charset="0"/>
                <a:cs typeface="Times New Roman" pitchFamily="18" charset="0"/>
              </a:rPr>
              <a:t> Defect Description</a:t>
            </a:r>
            <a:r>
              <a:rPr lang="en-US" sz="2400" dirty="0">
                <a:latin typeface="Times New Roman" pitchFamily="18" charset="0"/>
                <a:cs typeface="Times New Roman" pitchFamily="18" charset="0"/>
              </a:rPr>
              <a:t>: Detailed explanation of the issue.</a:t>
            </a:r>
          </a:p>
          <a:p>
            <a:pPr algn="just"/>
            <a:r>
              <a:rPr lang="en-US" sz="2400" b="1" dirty="0">
                <a:latin typeface="Times New Roman" pitchFamily="18" charset="0"/>
                <a:cs typeface="Times New Roman" pitchFamily="18" charset="0"/>
              </a:rPr>
              <a:t> Severity and Priority</a:t>
            </a:r>
            <a:r>
              <a:rPr lang="en-US" sz="2400" dirty="0">
                <a:latin typeface="Times New Roman" pitchFamily="18" charset="0"/>
                <a:cs typeface="Times New Roman" pitchFamily="18" charset="0"/>
              </a:rPr>
              <a:t>: Classification of the defect’s impact and urgency.</a:t>
            </a:r>
          </a:p>
          <a:p>
            <a:pPr algn="just"/>
            <a:r>
              <a:rPr lang="en-US" sz="2400" b="1" dirty="0">
                <a:latin typeface="Times New Roman" pitchFamily="18" charset="0"/>
                <a:cs typeface="Times New Roman" pitchFamily="18" charset="0"/>
              </a:rPr>
              <a:t> Status</a:t>
            </a:r>
            <a:r>
              <a:rPr lang="en-US" sz="2400" dirty="0">
                <a:latin typeface="Times New Roman" pitchFamily="18" charset="0"/>
                <a:cs typeface="Times New Roman" pitchFamily="18" charset="0"/>
              </a:rPr>
              <a:t>: Current state (open, closed, in progress).</a:t>
            </a:r>
          </a:p>
          <a:p>
            <a:pPr algn="just"/>
            <a:r>
              <a:rPr lang="en-US" sz="2400" b="1" dirty="0">
                <a:latin typeface="Times New Roman" pitchFamily="18" charset="0"/>
                <a:cs typeface="Times New Roman" pitchFamily="18" charset="0"/>
              </a:rPr>
              <a:t> Root Cause</a:t>
            </a:r>
            <a:r>
              <a:rPr lang="en-US" sz="2400" dirty="0">
                <a:latin typeface="Times New Roman" pitchFamily="18" charset="0"/>
                <a:cs typeface="Times New Roman" pitchFamily="18" charset="0"/>
              </a:rPr>
              <a:t>: Underlying cause of the defect, if identified.</a:t>
            </a:r>
          </a:p>
          <a:p>
            <a:pPr marL="45720" indent="0" algn="just">
              <a:buNone/>
            </a:pPr>
            <a:r>
              <a:rPr lang="en-US" sz="2400" dirty="0">
                <a:latin typeface="Times New Roman" pitchFamily="18" charset="0"/>
                <a:cs typeface="Times New Roman" pitchFamily="18" charset="0"/>
              </a:rPr>
              <a:t>The repository allows for effective defect tracking, reporting, and analysis.</a:t>
            </a:r>
          </a:p>
          <a:p>
            <a:pPr marL="320040" lvl="1" indent="0" algn="just">
              <a:buNone/>
            </a:pP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7709684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85800"/>
            <a:ext cx="8534400" cy="1752600"/>
          </a:xfrm>
        </p:spPr>
        <p:txBody>
          <a:bodyPr>
            <a:noAutofit/>
          </a:bodyPr>
          <a:lstStyle/>
          <a:p>
            <a:r>
              <a:rPr lang="en-US" b="1" dirty="0">
                <a:latin typeface="Times New Roman" pitchFamily="18" charset="0"/>
                <a:cs typeface="Times New Roman" pitchFamily="18" charset="0"/>
              </a:rPr>
              <a:t>The Defect Repository and Test Design: </a:t>
            </a:r>
            <a:br>
              <a:rPr lang="en-US" b="1" dirty="0">
                <a:latin typeface="Times New Roman" pitchFamily="18" charset="0"/>
                <a:cs typeface="Times New Roman" pitchFamily="18" charset="0"/>
              </a:rPr>
            </a:br>
            <a:br>
              <a:rPr lang="en-US" b="1" dirty="0">
                <a:latin typeface="Times New Roman" pitchFamily="18" charset="0"/>
                <a:cs typeface="Times New Roman" pitchFamily="18" charset="0"/>
              </a:rPr>
            </a:br>
            <a:endParaRPr lang="en-US" sz="3200" b="1" dirty="0">
              <a:latin typeface="Times New Roman" pitchFamily="18" charset="0"/>
              <a:cs typeface="Times New Roman" pitchFamily="18" charset="0"/>
            </a:endParaRPr>
          </a:p>
        </p:txBody>
      </p:sp>
      <p:sp>
        <p:nvSpPr>
          <p:cNvPr id="4" name="Content Placeholder 2"/>
          <p:cNvSpPr>
            <a:spLocks noGrp="1"/>
          </p:cNvSpPr>
          <p:nvPr>
            <p:ph idx="1"/>
          </p:nvPr>
        </p:nvSpPr>
        <p:spPr>
          <a:xfrm>
            <a:off x="0" y="1295400"/>
            <a:ext cx="9144000" cy="5486400"/>
          </a:xfrm>
        </p:spPr>
        <p:txBody>
          <a:bodyPr>
            <a:noAutofit/>
          </a:bodyPr>
          <a:lstStyle/>
          <a:p>
            <a:pPr marL="45720" indent="0" algn="just">
              <a:buNone/>
            </a:pPr>
            <a:r>
              <a:rPr lang="en-US" sz="2200" b="1" dirty="0">
                <a:latin typeface="Times New Roman" pitchFamily="18" charset="0"/>
                <a:cs typeface="Times New Roman" pitchFamily="18" charset="0"/>
              </a:rPr>
              <a:t>Test Design: </a:t>
            </a:r>
            <a:r>
              <a:rPr lang="en-US" sz="2200" dirty="0">
                <a:latin typeface="Times New Roman" pitchFamily="18" charset="0"/>
                <a:cs typeface="Times New Roman" pitchFamily="18" charset="0"/>
              </a:rPr>
              <a:t>Test design involves creating test cases that ensure the software works as expected. </a:t>
            </a:r>
          </a:p>
          <a:p>
            <a:pPr marL="45720" indent="0" algn="just">
              <a:buNone/>
            </a:pPr>
            <a:endParaRPr lang="en-US" sz="2200" dirty="0">
              <a:latin typeface="Times New Roman" pitchFamily="18" charset="0"/>
              <a:cs typeface="Times New Roman" pitchFamily="18" charset="0"/>
            </a:endParaRPr>
          </a:p>
          <a:p>
            <a:pPr marL="45720" indent="0" algn="just">
              <a:buNone/>
            </a:pPr>
            <a:r>
              <a:rPr lang="en-US" sz="2200" b="1" dirty="0">
                <a:latin typeface="Times New Roman" pitchFamily="18" charset="0"/>
                <a:cs typeface="Times New Roman" pitchFamily="18" charset="0"/>
              </a:rPr>
              <a:t>The defect repository plays a key role in this process by:</a:t>
            </a:r>
          </a:p>
          <a:p>
            <a:pPr algn="just"/>
            <a:r>
              <a:rPr lang="en-US" sz="2200" b="1" dirty="0">
                <a:latin typeface="Times New Roman" pitchFamily="18" charset="0"/>
                <a:cs typeface="Times New Roman" pitchFamily="18" charset="0"/>
              </a:rPr>
              <a:t> Identifying Areas of Risk</a:t>
            </a:r>
            <a:r>
              <a:rPr lang="en-US" sz="2200" dirty="0">
                <a:latin typeface="Times New Roman" pitchFamily="18" charset="0"/>
                <a:cs typeface="Times New Roman" pitchFamily="18" charset="0"/>
              </a:rPr>
              <a:t>: Analyzing past defects to focus testing efforts on high-risk areas.</a:t>
            </a:r>
          </a:p>
          <a:p>
            <a:pPr algn="just"/>
            <a:r>
              <a:rPr lang="en-US" sz="2200" b="1" dirty="0">
                <a:latin typeface="Times New Roman" pitchFamily="18" charset="0"/>
                <a:cs typeface="Times New Roman" pitchFamily="18" charset="0"/>
              </a:rPr>
              <a:t> Guiding Test Case Creation</a:t>
            </a:r>
            <a:r>
              <a:rPr lang="en-US" sz="2200" dirty="0">
                <a:latin typeface="Times New Roman" pitchFamily="18" charset="0"/>
                <a:cs typeface="Times New Roman" pitchFamily="18" charset="0"/>
              </a:rPr>
              <a:t>: Past defects provide insights into common failure points, helping in the creation of new test cases or enhancing existing ones.</a:t>
            </a:r>
          </a:p>
          <a:p>
            <a:pPr algn="just"/>
            <a:r>
              <a:rPr lang="en-US" sz="2200" b="1" dirty="0">
                <a:latin typeface="Times New Roman" pitchFamily="18" charset="0"/>
                <a:cs typeface="Times New Roman" pitchFamily="18" charset="0"/>
              </a:rPr>
              <a:t> Supporting Regression Testing</a:t>
            </a:r>
            <a:r>
              <a:rPr lang="en-US" sz="2200" dirty="0">
                <a:latin typeface="Times New Roman" pitchFamily="18" charset="0"/>
                <a:cs typeface="Times New Roman" pitchFamily="18" charset="0"/>
              </a:rPr>
              <a:t>: When defects are fixed, the repository helps ensure that related areas are tested to prevent regression.</a:t>
            </a:r>
          </a:p>
          <a:p>
            <a:pPr marL="45720" indent="0" algn="just">
              <a:buNone/>
            </a:pPr>
            <a:r>
              <a:rPr lang="en-US" sz="2200" dirty="0">
                <a:latin typeface="Times New Roman" pitchFamily="18" charset="0"/>
                <a:cs typeface="Times New Roman" pitchFamily="18" charset="0"/>
              </a:rPr>
              <a:t>By analyzing defects, testers can design more targeted and effective test cases, improving test coverage and reducing future defects. The defect repository informs test design, helping to improve the overall quality of the software.</a:t>
            </a:r>
          </a:p>
          <a:p>
            <a:pPr marL="45720" indent="0" algn="just">
              <a:buNone/>
            </a:pPr>
            <a:endParaRPr 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3833618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85800"/>
            <a:ext cx="8534400" cy="1752600"/>
          </a:xfrm>
        </p:spPr>
        <p:txBody>
          <a:bodyPr>
            <a:noAutofit/>
          </a:bodyPr>
          <a:lstStyle/>
          <a:p>
            <a:r>
              <a:rPr lang="en-US" b="1" dirty="0">
                <a:latin typeface="Times New Roman" pitchFamily="18" charset="0"/>
                <a:cs typeface="Times New Roman" pitchFamily="18" charset="0"/>
              </a:rPr>
              <a:t>Defect Examples : </a:t>
            </a:r>
            <a:br>
              <a:rPr lang="en-US" b="1" dirty="0">
                <a:latin typeface="Times New Roman" pitchFamily="18" charset="0"/>
                <a:cs typeface="Times New Roman" pitchFamily="18" charset="0"/>
              </a:rPr>
            </a:br>
            <a:br>
              <a:rPr lang="en-US" b="1" dirty="0">
                <a:latin typeface="Times New Roman" pitchFamily="18" charset="0"/>
                <a:cs typeface="Times New Roman" pitchFamily="18" charset="0"/>
              </a:rPr>
            </a:br>
            <a:endParaRPr lang="en-US" sz="3200" b="1" dirty="0">
              <a:latin typeface="Times New Roman" pitchFamily="18" charset="0"/>
              <a:cs typeface="Times New Roman" pitchFamily="18" charset="0"/>
            </a:endParaRPr>
          </a:p>
        </p:txBody>
      </p:sp>
      <p:sp>
        <p:nvSpPr>
          <p:cNvPr id="4" name="Content Placeholder 2"/>
          <p:cNvSpPr>
            <a:spLocks noGrp="1"/>
          </p:cNvSpPr>
          <p:nvPr>
            <p:ph idx="1"/>
          </p:nvPr>
        </p:nvSpPr>
        <p:spPr>
          <a:xfrm>
            <a:off x="0" y="1676400"/>
            <a:ext cx="9144000" cy="5486400"/>
          </a:xfrm>
        </p:spPr>
        <p:txBody>
          <a:bodyPr>
            <a:noAutofit/>
          </a:bodyPr>
          <a:lstStyle/>
          <a:p>
            <a:pPr marL="45720" indent="0" algn="just">
              <a:buNone/>
            </a:pPr>
            <a:r>
              <a:rPr lang="en-US" sz="2400" dirty="0">
                <a:latin typeface="Times New Roman" pitchFamily="18" charset="0"/>
                <a:cs typeface="Times New Roman" pitchFamily="18" charset="0"/>
              </a:rPr>
              <a:t>Here are some </a:t>
            </a:r>
            <a:r>
              <a:rPr lang="en-US" sz="2400" b="1" dirty="0">
                <a:latin typeface="Times New Roman" pitchFamily="18" charset="0"/>
                <a:cs typeface="Times New Roman" pitchFamily="18" charset="0"/>
              </a:rPr>
              <a:t>examples of defects</a:t>
            </a:r>
            <a:r>
              <a:rPr lang="en-US" sz="2400" dirty="0">
                <a:latin typeface="Times New Roman" pitchFamily="18" charset="0"/>
                <a:cs typeface="Times New Roman" pitchFamily="18" charset="0"/>
              </a:rPr>
              <a:t> that may occur in software:</a:t>
            </a:r>
          </a:p>
          <a:p>
            <a:pPr algn="just"/>
            <a:r>
              <a:rPr lang="en-US" sz="2400" b="1" dirty="0">
                <a:latin typeface="Times New Roman" pitchFamily="18" charset="0"/>
                <a:cs typeface="Times New Roman" pitchFamily="18" charset="0"/>
              </a:rPr>
              <a:t> 1. Functional Defects: Example</a:t>
            </a:r>
            <a:r>
              <a:rPr lang="en-US" sz="2400" dirty="0">
                <a:latin typeface="Times New Roman" pitchFamily="18" charset="0"/>
                <a:cs typeface="Times New Roman" pitchFamily="18" charset="0"/>
              </a:rPr>
              <a:t>: A shopping cart application doesn't update the total price after an item is added.</a:t>
            </a:r>
          </a:p>
          <a:p>
            <a:pPr algn="just"/>
            <a:r>
              <a:rPr lang="en-US" sz="2400" b="1" dirty="0">
                <a:latin typeface="Times New Roman" pitchFamily="18" charset="0"/>
                <a:cs typeface="Times New Roman" pitchFamily="18" charset="0"/>
              </a:rPr>
              <a:t> 2. Performance Defects: Example</a:t>
            </a:r>
            <a:r>
              <a:rPr lang="en-US" sz="2400" dirty="0">
                <a:latin typeface="Times New Roman" pitchFamily="18" charset="0"/>
                <a:cs typeface="Times New Roman" pitchFamily="18" charset="0"/>
              </a:rPr>
              <a:t>: A website takes too long to load when accessed by multiple users simultaneously.</a:t>
            </a:r>
          </a:p>
          <a:p>
            <a:pPr algn="just"/>
            <a:r>
              <a:rPr lang="en-US" sz="2400" b="1" dirty="0">
                <a:latin typeface="Times New Roman" pitchFamily="18" charset="0"/>
                <a:cs typeface="Times New Roman" pitchFamily="18" charset="0"/>
              </a:rPr>
              <a:t> 3. Security Defects: Example</a:t>
            </a:r>
            <a:r>
              <a:rPr lang="en-US" sz="2400" dirty="0">
                <a:latin typeface="Times New Roman" pitchFamily="18" charset="0"/>
                <a:cs typeface="Times New Roman" pitchFamily="18" charset="0"/>
              </a:rPr>
              <a:t>: A login page is vulnerable to SQL injection, allowing unauthorized access.</a:t>
            </a:r>
          </a:p>
          <a:p>
            <a:pPr algn="just"/>
            <a:r>
              <a:rPr lang="en-US" sz="2400" b="1" dirty="0">
                <a:latin typeface="Times New Roman" pitchFamily="18" charset="0"/>
                <a:cs typeface="Times New Roman" pitchFamily="18" charset="0"/>
              </a:rPr>
              <a:t> 4. Usability Defects: Example</a:t>
            </a:r>
            <a:r>
              <a:rPr lang="en-US" sz="2400" dirty="0">
                <a:latin typeface="Times New Roman" pitchFamily="18" charset="0"/>
                <a:cs typeface="Times New Roman" pitchFamily="18" charset="0"/>
              </a:rPr>
              <a:t>: A form’s submit button is placed in an obscure location, making it difficult for users to find.</a:t>
            </a:r>
          </a:p>
          <a:p>
            <a:pPr algn="just"/>
            <a:r>
              <a:rPr lang="en-US" sz="2400" b="1" dirty="0">
                <a:latin typeface="Times New Roman" pitchFamily="18" charset="0"/>
                <a:cs typeface="Times New Roman" pitchFamily="18" charset="0"/>
              </a:rPr>
              <a:t> 5. Interface Defects: Example</a:t>
            </a:r>
            <a:r>
              <a:rPr lang="en-US" sz="2400" dirty="0">
                <a:latin typeface="Times New Roman" pitchFamily="18" charset="0"/>
                <a:cs typeface="Times New Roman" pitchFamily="18" charset="0"/>
              </a:rPr>
              <a:t>: A user clicks a button in the app, but no action is triggered due to a broken API integration.</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972208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85800"/>
            <a:ext cx="8534400" cy="1752600"/>
          </a:xfrm>
        </p:spPr>
        <p:txBody>
          <a:bodyPr>
            <a:noAutofit/>
          </a:bodyPr>
          <a:lstStyle/>
          <a:p>
            <a:r>
              <a:rPr lang="en-US" b="1" dirty="0">
                <a:latin typeface="Times New Roman" pitchFamily="18" charset="0"/>
                <a:cs typeface="Times New Roman" pitchFamily="18" charset="0"/>
              </a:rPr>
              <a:t>Defect Examples : </a:t>
            </a:r>
            <a:br>
              <a:rPr lang="en-US" b="1" dirty="0">
                <a:latin typeface="Times New Roman" pitchFamily="18" charset="0"/>
                <a:cs typeface="Times New Roman" pitchFamily="18" charset="0"/>
              </a:rPr>
            </a:br>
            <a:br>
              <a:rPr lang="en-US" b="1" dirty="0">
                <a:latin typeface="Times New Roman" pitchFamily="18" charset="0"/>
                <a:cs typeface="Times New Roman" pitchFamily="18" charset="0"/>
              </a:rPr>
            </a:br>
            <a:endParaRPr lang="en-US" sz="3200" b="1" dirty="0">
              <a:latin typeface="Times New Roman" pitchFamily="18" charset="0"/>
              <a:cs typeface="Times New Roman" pitchFamily="18" charset="0"/>
            </a:endParaRPr>
          </a:p>
        </p:txBody>
      </p:sp>
      <p:sp>
        <p:nvSpPr>
          <p:cNvPr id="4" name="Content Placeholder 2"/>
          <p:cNvSpPr>
            <a:spLocks noGrp="1"/>
          </p:cNvSpPr>
          <p:nvPr>
            <p:ph idx="1"/>
          </p:nvPr>
        </p:nvSpPr>
        <p:spPr>
          <a:xfrm>
            <a:off x="0" y="1600200"/>
            <a:ext cx="9144000" cy="5486400"/>
          </a:xfrm>
        </p:spPr>
        <p:txBody>
          <a:bodyPr>
            <a:noAutofit/>
          </a:bodyPr>
          <a:lstStyle/>
          <a:p>
            <a:pPr marL="45720" indent="0" algn="just">
              <a:buNone/>
            </a:pPr>
            <a:r>
              <a:rPr lang="en-US" sz="2400" dirty="0">
                <a:latin typeface="Times New Roman" pitchFamily="18" charset="0"/>
                <a:cs typeface="Times New Roman" pitchFamily="18" charset="0"/>
              </a:rPr>
              <a:t>Here are some </a:t>
            </a:r>
            <a:r>
              <a:rPr lang="en-US" sz="2400" b="1" dirty="0">
                <a:latin typeface="Times New Roman" pitchFamily="18" charset="0"/>
                <a:cs typeface="Times New Roman" pitchFamily="18" charset="0"/>
              </a:rPr>
              <a:t>examples of defects</a:t>
            </a:r>
            <a:r>
              <a:rPr lang="en-US" sz="2400" dirty="0">
                <a:latin typeface="Times New Roman" pitchFamily="18" charset="0"/>
                <a:cs typeface="Times New Roman" pitchFamily="18" charset="0"/>
              </a:rPr>
              <a:t> that may occur in software:</a:t>
            </a:r>
          </a:p>
          <a:p>
            <a:pPr algn="just">
              <a:buFont typeface="Wingdings" pitchFamily="2" charset="2"/>
              <a:buChar char="§"/>
            </a:pPr>
            <a:r>
              <a:rPr lang="en-US" sz="2400" b="1" dirty="0">
                <a:latin typeface="Times New Roman" pitchFamily="18" charset="0"/>
                <a:cs typeface="Times New Roman" pitchFamily="18" charset="0"/>
              </a:rPr>
              <a:t> 6. Boundary Defects: Example</a:t>
            </a:r>
            <a:r>
              <a:rPr lang="en-US" sz="2400" dirty="0">
                <a:latin typeface="Times New Roman" pitchFamily="18" charset="0"/>
                <a:cs typeface="Times New Roman" pitchFamily="18" charset="0"/>
              </a:rPr>
              <a:t>: A form fails to accept valid input values like dates that fall on the edge of a defined range (e.g., 01/01/2025).</a:t>
            </a:r>
          </a:p>
          <a:p>
            <a:pPr algn="just"/>
            <a:r>
              <a:rPr lang="en-US" sz="2400" b="1" dirty="0">
                <a:latin typeface="Times New Roman" pitchFamily="18" charset="0"/>
                <a:cs typeface="Times New Roman" pitchFamily="18" charset="0"/>
              </a:rPr>
              <a:t> 7. Data Defects: Example</a:t>
            </a:r>
            <a:r>
              <a:rPr lang="en-US" sz="2400" dirty="0">
                <a:latin typeface="Times New Roman" pitchFamily="18" charset="0"/>
                <a:cs typeface="Times New Roman" pitchFamily="18" charset="0"/>
              </a:rPr>
              <a:t>: A report generates incorrect data, such as showing wrong sales totals due to data corruption.</a:t>
            </a:r>
          </a:p>
          <a:p>
            <a:pPr algn="just"/>
            <a:r>
              <a:rPr lang="en-US" sz="2400" b="1" dirty="0">
                <a:latin typeface="Times New Roman" pitchFamily="18" charset="0"/>
                <a:cs typeface="Times New Roman" pitchFamily="18" charset="0"/>
              </a:rPr>
              <a:t> 8. Regression Defects: Example</a:t>
            </a:r>
            <a:r>
              <a:rPr lang="en-US" sz="2400" dirty="0">
                <a:latin typeface="Times New Roman" pitchFamily="18" charset="0"/>
                <a:cs typeface="Times New Roman" pitchFamily="18" charset="0"/>
              </a:rPr>
              <a:t>: A previously working feature, such as a search function, stops working after a new software update.</a:t>
            </a:r>
          </a:p>
          <a:p>
            <a:pPr marL="45720" indent="0" algn="just">
              <a:buNone/>
            </a:pP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28256405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534400" cy="2209800"/>
          </a:xfrm>
        </p:spPr>
        <p:txBody>
          <a:bodyPr>
            <a:noAutofit/>
          </a:bodyPr>
          <a:lstStyle/>
          <a:p>
            <a:r>
              <a:rPr lang="en-US" sz="2800" b="1" dirty="0">
                <a:latin typeface="Times New Roman" pitchFamily="18" charset="0"/>
                <a:cs typeface="Times New Roman" pitchFamily="18" charset="0"/>
              </a:rPr>
              <a:t>Developer/Tester Support for Developing a Defect Repository: </a:t>
            </a:r>
            <a:br>
              <a:rPr lang="en-US" sz="3600" b="1" dirty="0">
                <a:latin typeface="Times New Roman" pitchFamily="18" charset="0"/>
                <a:cs typeface="Times New Roman" pitchFamily="18" charset="0"/>
              </a:rPr>
            </a:br>
            <a:br>
              <a:rPr lang="en-US" sz="3600" b="1" dirty="0">
                <a:latin typeface="Times New Roman" pitchFamily="18" charset="0"/>
                <a:cs typeface="Times New Roman" pitchFamily="18" charset="0"/>
              </a:rPr>
            </a:br>
            <a:endParaRPr lang="en-US" sz="3600" b="1" dirty="0">
              <a:latin typeface="Times New Roman" pitchFamily="18" charset="0"/>
              <a:cs typeface="Times New Roman" pitchFamily="18" charset="0"/>
            </a:endParaRPr>
          </a:p>
        </p:txBody>
      </p:sp>
      <p:sp>
        <p:nvSpPr>
          <p:cNvPr id="4" name="Content Placeholder 2"/>
          <p:cNvSpPr>
            <a:spLocks noGrp="1"/>
          </p:cNvSpPr>
          <p:nvPr>
            <p:ph idx="1"/>
          </p:nvPr>
        </p:nvSpPr>
        <p:spPr>
          <a:xfrm>
            <a:off x="0" y="838200"/>
            <a:ext cx="9144000" cy="6400800"/>
          </a:xfrm>
        </p:spPr>
        <p:txBody>
          <a:bodyPr>
            <a:noAutofit/>
          </a:bodyPr>
          <a:lstStyle/>
          <a:p>
            <a:pPr marL="45720" indent="0" algn="just">
              <a:buNone/>
            </a:pPr>
            <a:r>
              <a:rPr lang="en-US" sz="2200" dirty="0">
                <a:latin typeface="Times New Roman" pitchFamily="18" charset="0"/>
                <a:cs typeface="Times New Roman" pitchFamily="18" charset="0"/>
              </a:rPr>
              <a:t>By working together, developers and testers ensure that the defect repository is a valuable resource for improving software quality. Clear documentation, regular updates, and collaborative communication make the defect repository an essential tool in identifying and addressing software issues efficiently</a:t>
            </a:r>
            <a:r>
              <a:rPr lang="en-US" sz="2400" dirty="0">
                <a:latin typeface="Times New Roman" pitchFamily="18" charset="0"/>
                <a:cs typeface="Times New Roman" pitchFamily="18" charset="0"/>
              </a:rPr>
              <a:t>.</a:t>
            </a:r>
          </a:p>
          <a:p>
            <a:pPr marL="45720" indent="0" algn="just">
              <a:buNone/>
            </a:pPr>
            <a:r>
              <a:rPr lang="en-US" sz="2400" b="1" dirty="0">
                <a:latin typeface="Times New Roman" pitchFamily="18" charset="0"/>
                <a:cs typeface="Times New Roman" pitchFamily="18" charset="0"/>
              </a:rPr>
              <a:t>Clear Communication</a:t>
            </a:r>
            <a:r>
              <a:rPr lang="en-US" sz="2400" dirty="0">
                <a:latin typeface="Times New Roman" pitchFamily="18" charset="0"/>
                <a:cs typeface="Times New Roman" pitchFamily="18" charset="0"/>
              </a:rPr>
              <a:t>: Testers document defects; developers provide feedback.</a:t>
            </a:r>
          </a:p>
          <a:p>
            <a:pPr marL="45720" indent="0" algn="just">
              <a:buNone/>
            </a:pPr>
            <a:r>
              <a:rPr lang="en-US" sz="2400" b="1" dirty="0">
                <a:latin typeface="Times New Roman" pitchFamily="18" charset="0"/>
                <a:cs typeface="Times New Roman" pitchFamily="18" charset="0"/>
              </a:rPr>
              <a:t>Consistent Categorization</a:t>
            </a:r>
            <a:r>
              <a:rPr lang="en-US" sz="2400" dirty="0">
                <a:latin typeface="Times New Roman" pitchFamily="18" charset="0"/>
                <a:cs typeface="Times New Roman" pitchFamily="18" charset="0"/>
              </a:rPr>
              <a:t>: Agree on defect types and priority.</a:t>
            </a:r>
          </a:p>
          <a:p>
            <a:pPr marL="45720" indent="0" algn="just">
              <a:buNone/>
            </a:pPr>
            <a:r>
              <a:rPr lang="en-US" sz="2400" b="1" dirty="0">
                <a:latin typeface="Times New Roman" pitchFamily="18" charset="0"/>
                <a:cs typeface="Times New Roman" pitchFamily="18" charset="0"/>
              </a:rPr>
              <a:t>Root Cause Analysis</a:t>
            </a:r>
            <a:r>
              <a:rPr lang="en-US" sz="2400" dirty="0">
                <a:latin typeface="Times New Roman" pitchFamily="18" charset="0"/>
                <a:cs typeface="Times New Roman" pitchFamily="18" charset="0"/>
              </a:rPr>
              <a:t>: Collaborate to prevent recurring defects.</a:t>
            </a:r>
          </a:p>
          <a:p>
            <a:pPr marL="45720" indent="0" algn="just">
              <a:buNone/>
            </a:pPr>
            <a:r>
              <a:rPr lang="en-US" sz="2400" b="1" dirty="0">
                <a:latin typeface="Times New Roman" pitchFamily="18" charset="0"/>
                <a:cs typeface="Times New Roman" pitchFamily="18" charset="0"/>
              </a:rPr>
              <a:t>Defect Management</a:t>
            </a:r>
            <a:r>
              <a:rPr lang="en-US" sz="2400" dirty="0">
                <a:latin typeface="Times New Roman" pitchFamily="18" charset="0"/>
                <a:cs typeface="Times New Roman" pitchFamily="18" charset="0"/>
              </a:rPr>
              <a:t>: Regular updates on defect status.</a:t>
            </a:r>
          </a:p>
          <a:p>
            <a:pPr marL="45720" indent="0" algn="just">
              <a:buNone/>
            </a:pPr>
            <a:r>
              <a:rPr lang="en-US" sz="2400" b="1" dirty="0">
                <a:latin typeface="Times New Roman" pitchFamily="18" charset="0"/>
                <a:cs typeface="Times New Roman" pitchFamily="18" charset="0"/>
              </a:rPr>
              <a:t>Feedback Loops</a:t>
            </a:r>
            <a:r>
              <a:rPr lang="en-US" sz="2400" dirty="0">
                <a:latin typeface="Times New Roman" pitchFamily="18" charset="0"/>
                <a:cs typeface="Times New Roman" pitchFamily="18" charset="0"/>
              </a:rPr>
              <a:t>: Ongoing feedback to improve defect handling.</a:t>
            </a:r>
          </a:p>
          <a:p>
            <a:pPr marL="45720" indent="0" algn="just">
              <a:buNone/>
            </a:pPr>
            <a:r>
              <a:rPr lang="en-US" sz="2400" b="1" dirty="0">
                <a:latin typeface="Times New Roman" pitchFamily="18" charset="0"/>
                <a:cs typeface="Times New Roman" pitchFamily="18" charset="0"/>
              </a:rPr>
              <a:t>Collaboration Tools</a:t>
            </a:r>
            <a:r>
              <a:rPr lang="en-US" sz="2400" dirty="0">
                <a:latin typeface="Times New Roman" pitchFamily="18" charset="0"/>
                <a:cs typeface="Times New Roman" pitchFamily="18" charset="0"/>
              </a:rPr>
              <a:t>: Use tools like JIRA for tracking.</a:t>
            </a:r>
          </a:p>
          <a:p>
            <a:pPr marL="45720" indent="0" algn="just">
              <a:buNone/>
            </a:pPr>
            <a:r>
              <a:rPr lang="en-US" sz="2400" b="1" dirty="0">
                <a:latin typeface="Times New Roman" pitchFamily="18" charset="0"/>
                <a:cs typeface="Times New Roman" pitchFamily="18" charset="0"/>
              </a:rPr>
              <a:t>Defect Prevention</a:t>
            </a:r>
            <a:r>
              <a:rPr lang="en-US" sz="2400" dirty="0">
                <a:latin typeface="Times New Roman" pitchFamily="18" charset="0"/>
                <a:cs typeface="Times New Roman" pitchFamily="18" charset="0"/>
              </a:rPr>
              <a:t>: Improve practices based on defect patterns.</a:t>
            </a:r>
          </a:p>
          <a:p>
            <a:pPr marL="45720" indent="0" algn="just">
              <a:buNone/>
            </a:pPr>
            <a:r>
              <a:rPr lang="en-US" sz="2400" b="1" dirty="0">
                <a:latin typeface="Times New Roman" pitchFamily="18" charset="0"/>
                <a:cs typeface="Times New Roman" pitchFamily="18" charset="0"/>
              </a:rPr>
              <a:t>Post-Release Review</a:t>
            </a:r>
            <a:r>
              <a:rPr lang="en-US" sz="2400" dirty="0">
                <a:latin typeface="Times New Roman" pitchFamily="18" charset="0"/>
                <a:cs typeface="Times New Roman" pitchFamily="18" charset="0"/>
              </a:rPr>
              <a:t>: Review defects to improve processes.</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282069589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921</TotalTime>
  <Words>2708</Words>
  <Application>Microsoft Office PowerPoint</Application>
  <PresentationFormat>On-screen Show (4:3)</PresentationFormat>
  <Paragraphs>215</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Times New Roman</vt:lpstr>
      <vt:lpstr>Trebuchet MS</vt:lpstr>
      <vt:lpstr>Wingdings</vt:lpstr>
      <vt:lpstr>Wingdings 3</vt:lpstr>
      <vt:lpstr>Facet</vt:lpstr>
      <vt:lpstr> Software Testing</vt:lpstr>
      <vt:lpstr>Software Testing</vt:lpstr>
      <vt:lpstr>Software Testing</vt:lpstr>
      <vt:lpstr>Software Testing</vt:lpstr>
      <vt:lpstr> Testing as an Engineering Activity</vt:lpstr>
      <vt:lpstr> Role of Process in Software Quality</vt:lpstr>
      <vt:lpstr> Testing as a Process</vt:lpstr>
      <vt:lpstr> Testing as a Process</vt:lpstr>
      <vt:lpstr>Basic Definitions:</vt:lpstr>
      <vt:lpstr>Basic Definitions:</vt:lpstr>
      <vt:lpstr>Basic Definitions:</vt:lpstr>
      <vt:lpstr>Basic Definitions:</vt:lpstr>
      <vt:lpstr>Basic Definitions:</vt:lpstr>
      <vt:lpstr>Basic Definitions:</vt:lpstr>
      <vt:lpstr> Software Testing Principles</vt:lpstr>
      <vt:lpstr>The Tester’s Role in a Software Development Organization</vt:lpstr>
      <vt:lpstr>The Tester’s Role in a Software Development Organization</vt:lpstr>
      <vt:lpstr>The Tester’s Role in a Software Development Organization</vt:lpstr>
      <vt:lpstr>The Tester’s Role in a Software Development Organization</vt:lpstr>
      <vt:lpstr>Origins of Defects:   1.  Defects Classes 2.  The Defect Repository and Test Design 3.  Defect Examples 4.  Developer/Tester Support for Developing a Defect Repository</vt:lpstr>
      <vt:lpstr>Origins of Defects:   </vt:lpstr>
      <vt:lpstr>Defects Classes:   </vt:lpstr>
      <vt:lpstr>Defects Classes:   </vt:lpstr>
      <vt:lpstr>The Defect Repository and Test Design:   </vt:lpstr>
      <vt:lpstr>The Defect Repository and Test Design:   </vt:lpstr>
      <vt:lpstr>Defect Examples :   </vt:lpstr>
      <vt:lpstr>Defect Examples :   </vt:lpstr>
      <vt:lpstr>Developer/Tester Support for Developing a Defect Repository: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 Computing</dc:title>
  <dc:creator>asus</dc:creator>
  <cp:lastModifiedBy>JAGDISH BABOO</cp:lastModifiedBy>
  <cp:revision>374</cp:revision>
  <dcterms:created xsi:type="dcterms:W3CDTF">2025-01-12T13:54:45Z</dcterms:created>
  <dcterms:modified xsi:type="dcterms:W3CDTF">2025-02-26T09:53:25Z</dcterms:modified>
</cp:coreProperties>
</file>